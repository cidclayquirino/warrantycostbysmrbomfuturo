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theme/themeOverride1.xml" ContentType="application/vnd.openxmlformats-officedocument.themeOverride+xml"/>
  <Override PartName="/ppt/notesSlides/notesSlide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5.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96150" r:id="rId5"/>
  </p:sldMasterIdLst>
  <p:notesMasterIdLst>
    <p:notesMasterId r:id="rId12"/>
  </p:notesMasterIdLst>
  <p:handoutMasterIdLst>
    <p:handoutMasterId r:id="rId13"/>
  </p:handoutMasterIdLst>
  <p:sldIdLst>
    <p:sldId id="256" r:id="rId6"/>
    <p:sldId id="271" r:id="rId7"/>
    <p:sldId id="262" r:id="rId8"/>
    <p:sldId id="273" r:id="rId9"/>
    <p:sldId id="272" r:id="rId10"/>
    <p:sldId id="260" r:id="rId11"/>
  </p:sldIdLst>
  <p:sldSz cx="9144000" cy="5143500" type="screen16x9"/>
  <p:notesSz cx="6954838" cy="9236075"/>
  <p:defaultTextStyle>
    <a:defPPr>
      <a:defRPr lang="en-US"/>
    </a:defPPr>
    <a:lvl1pPr algn="l" rtl="0" fontAlgn="base">
      <a:spcBef>
        <a:spcPct val="0"/>
      </a:spcBef>
      <a:spcAft>
        <a:spcPct val="0"/>
      </a:spcAft>
      <a:defRPr kern="1200">
        <a:solidFill>
          <a:schemeClr val="tx1"/>
        </a:solidFill>
        <a:latin typeface="Calibri" charset="0"/>
        <a:ea typeface="+mn-ea"/>
        <a:cs typeface="+mn-cs"/>
      </a:defRPr>
    </a:lvl1pPr>
    <a:lvl2pPr marL="457200" algn="l" rtl="0" fontAlgn="base">
      <a:spcBef>
        <a:spcPct val="0"/>
      </a:spcBef>
      <a:spcAft>
        <a:spcPct val="0"/>
      </a:spcAft>
      <a:defRPr kern="1200">
        <a:solidFill>
          <a:schemeClr val="tx1"/>
        </a:solidFill>
        <a:latin typeface="Calibri" charset="0"/>
        <a:ea typeface="+mn-ea"/>
        <a:cs typeface="+mn-cs"/>
      </a:defRPr>
    </a:lvl2pPr>
    <a:lvl3pPr marL="914400" algn="l" rtl="0" fontAlgn="base">
      <a:spcBef>
        <a:spcPct val="0"/>
      </a:spcBef>
      <a:spcAft>
        <a:spcPct val="0"/>
      </a:spcAft>
      <a:defRPr kern="1200">
        <a:solidFill>
          <a:schemeClr val="tx1"/>
        </a:solidFill>
        <a:latin typeface="Calibri" charset="0"/>
        <a:ea typeface="+mn-ea"/>
        <a:cs typeface="+mn-cs"/>
      </a:defRPr>
    </a:lvl3pPr>
    <a:lvl4pPr marL="1371600" algn="l" rtl="0" fontAlgn="base">
      <a:spcBef>
        <a:spcPct val="0"/>
      </a:spcBef>
      <a:spcAft>
        <a:spcPct val="0"/>
      </a:spcAft>
      <a:defRPr kern="1200">
        <a:solidFill>
          <a:schemeClr val="tx1"/>
        </a:solidFill>
        <a:latin typeface="Calibri" charset="0"/>
        <a:ea typeface="+mn-ea"/>
        <a:cs typeface="+mn-cs"/>
      </a:defRPr>
    </a:lvl4pPr>
    <a:lvl5pPr marL="1828800" algn="l" rtl="0" fontAlgn="base">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756"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9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F266"/>
    <a:srgbClr val="7030A0"/>
    <a:srgbClr val="E7218D"/>
    <a:srgbClr val="00792B"/>
    <a:srgbClr val="E2F2FF"/>
    <a:srgbClr val="6699FF"/>
    <a:srgbClr val="3366CC"/>
    <a:srgbClr val="253FC8"/>
    <a:srgbClr val="0C065C"/>
    <a:srgbClr val="0804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1882C3-CF07-45A3-956A-E266EC76E668}" v="14" dt="2025-12-23T14:51:47.2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94" autoAdjust="0"/>
    <p:restoredTop sz="94710"/>
  </p:normalViewPr>
  <p:slideViewPr>
    <p:cSldViewPr snapToGrid="0">
      <p:cViewPr varScale="1">
        <p:scale>
          <a:sx n="93" d="100"/>
          <a:sy n="93" d="100"/>
        </p:scale>
        <p:origin x="152" y="64"/>
      </p:cViewPr>
      <p:guideLst>
        <p:guide orient="horz" pos="756"/>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375" y="-1227"/>
      </p:cViewPr>
      <p:guideLst>
        <p:guide orient="horz" pos="2909"/>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id Quirino" userId="6ee977d2-7df1-4b5d-be45-d1282a62ed02" providerId="ADAL" clId="{258C06EC-7E8F-4AA5-B3DB-5C8CF8EEA7E6}"/>
    <pc:docChg chg="undo custSel delSld modSld">
      <pc:chgData name="Cid Quirino" userId="6ee977d2-7df1-4b5d-be45-d1282a62ed02" providerId="ADAL" clId="{258C06EC-7E8F-4AA5-B3DB-5C8CF8EEA7E6}" dt="2025-12-23T14:53:10.391" v="212" actId="123"/>
      <pc:docMkLst>
        <pc:docMk/>
      </pc:docMkLst>
      <pc:sldChg chg="del">
        <pc:chgData name="Cid Quirino" userId="6ee977d2-7df1-4b5d-be45-d1282a62ed02" providerId="ADAL" clId="{258C06EC-7E8F-4AA5-B3DB-5C8CF8EEA7E6}" dt="2025-12-23T14:47:42.483" v="165" actId="47"/>
        <pc:sldMkLst>
          <pc:docMk/>
          <pc:sldMk cId="842009316" sldId="269"/>
        </pc:sldMkLst>
      </pc:sldChg>
      <pc:sldChg chg="addSp modSp mod">
        <pc:chgData name="Cid Quirino" userId="6ee977d2-7df1-4b5d-be45-d1282a62ed02" providerId="ADAL" clId="{258C06EC-7E8F-4AA5-B3DB-5C8CF8EEA7E6}" dt="2025-12-23T14:53:10.391" v="212" actId="123"/>
        <pc:sldMkLst>
          <pc:docMk/>
          <pc:sldMk cId="2878545971" sldId="271"/>
        </pc:sldMkLst>
        <pc:spChg chg="mod">
          <ac:chgData name="Cid Quirino" userId="6ee977d2-7df1-4b5d-be45-d1282a62ed02" providerId="ADAL" clId="{258C06EC-7E8F-4AA5-B3DB-5C8CF8EEA7E6}" dt="2025-12-23T14:46:19.353" v="144" actId="1035"/>
          <ac:spMkLst>
            <pc:docMk/>
            <pc:sldMk cId="2878545971" sldId="271"/>
            <ac:spMk id="2" creationId="{FBCC0B0E-3D76-8A4F-AD10-7783F03556D6}"/>
          </ac:spMkLst>
        </pc:spChg>
        <pc:spChg chg="mod">
          <ac:chgData name="Cid Quirino" userId="6ee977d2-7df1-4b5d-be45-d1282a62ed02" providerId="ADAL" clId="{258C06EC-7E8F-4AA5-B3DB-5C8CF8EEA7E6}" dt="2025-12-23T14:46:23.391" v="148" actId="1035"/>
          <ac:spMkLst>
            <pc:docMk/>
            <pc:sldMk cId="2878545971" sldId="271"/>
            <ac:spMk id="3" creationId="{F3F76C50-615C-5936-93F7-86DC841D5D93}"/>
          </ac:spMkLst>
        </pc:spChg>
        <pc:spChg chg="mod">
          <ac:chgData name="Cid Quirino" userId="6ee977d2-7df1-4b5d-be45-d1282a62ed02" providerId="ADAL" clId="{258C06EC-7E8F-4AA5-B3DB-5C8CF8EEA7E6}" dt="2025-12-23T14:53:10.391" v="212" actId="123"/>
          <ac:spMkLst>
            <pc:docMk/>
            <pc:sldMk cId="2878545971" sldId="271"/>
            <ac:spMk id="12" creationId="{7F999E8A-A944-E2AA-45D6-D979639735BC}"/>
          </ac:spMkLst>
        </pc:spChg>
        <pc:spChg chg="mod">
          <ac:chgData name="Cid Quirino" userId="6ee977d2-7df1-4b5d-be45-d1282a62ed02" providerId="ADAL" clId="{258C06EC-7E8F-4AA5-B3DB-5C8CF8EEA7E6}" dt="2025-12-23T14:44:41.869" v="85" actId="1076"/>
          <ac:spMkLst>
            <pc:docMk/>
            <pc:sldMk cId="2878545971" sldId="271"/>
            <ac:spMk id="16" creationId="{591EF5B5-64CD-23A9-7F17-2475FBE48D6E}"/>
          </ac:spMkLst>
        </pc:spChg>
        <pc:spChg chg="mod">
          <ac:chgData name="Cid Quirino" userId="6ee977d2-7df1-4b5d-be45-d1282a62ed02" providerId="ADAL" clId="{258C06EC-7E8F-4AA5-B3DB-5C8CF8EEA7E6}" dt="2025-12-23T14:44:37.841" v="84" actId="14100"/>
          <ac:spMkLst>
            <pc:docMk/>
            <pc:sldMk cId="2878545971" sldId="271"/>
            <ac:spMk id="17" creationId="{92A0D94C-279F-1732-E9EE-1EFF0CFEADED}"/>
          </ac:spMkLst>
        </pc:spChg>
        <pc:spChg chg="add mod">
          <ac:chgData name="Cid Quirino" userId="6ee977d2-7df1-4b5d-be45-d1282a62ed02" providerId="ADAL" clId="{258C06EC-7E8F-4AA5-B3DB-5C8CF8EEA7E6}" dt="2025-12-23T14:52:53.530" v="210" actId="12789"/>
          <ac:spMkLst>
            <pc:docMk/>
            <pc:sldMk cId="2878545971" sldId="271"/>
            <ac:spMk id="22" creationId="{FBBFE26A-CA95-E8CB-CD9E-B21B98DDFF3B}"/>
          </ac:spMkLst>
        </pc:spChg>
        <pc:spChg chg="add mod">
          <ac:chgData name="Cid Quirino" userId="6ee977d2-7df1-4b5d-be45-d1282a62ed02" providerId="ADAL" clId="{258C06EC-7E8F-4AA5-B3DB-5C8CF8EEA7E6}" dt="2025-12-23T14:52:48.536" v="209" actId="12789"/>
          <ac:spMkLst>
            <pc:docMk/>
            <pc:sldMk cId="2878545971" sldId="271"/>
            <ac:spMk id="24" creationId="{E33B2AE2-8751-EF5B-F9DA-BD9D827669DF}"/>
          </ac:spMkLst>
        </pc:spChg>
        <pc:spChg chg="add mod">
          <ac:chgData name="Cid Quirino" userId="6ee977d2-7df1-4b5d-be45-d1282a62ed02" providerId="ADAL" clId="{258C06EC-7E8F-4AA5-B3DB-5C8CF8EEA7E6}" dt="2025-12-23T14:52:40.712" v="208" actId="12789"/>
          <ac:spMkLst>
            <pc:docMk/>
            <pc:sldMk cId="2878545971" sldId="271"/>
            <ac:spMk id="25" creationId="{13C4F663-FBD6-EB2B-384D-4E257135F431}"/>
          </ac:spMkLst>
        </pc:spChg>
        <pc:spChg chg="mod">
          <ac:chgData name="Cid Quirino" userId="6ee977d2-7df1-4b5d-be45-d1282a62ed02" providerId="ADAL" clId="{258C06EC-7E8F-4AA5-B3DB-5C8CF8EEA7E6}" dt="2025-12-23T14:46:23.391" v="148" actId="1035"/>
          <ac:spMkLst>
            <pc:docMk/>
            <pc:sldMk cId="2878545971" sldId="271"/>
            <ac:spMk id="26" creationId="{AB7A42D6-A96D-12A0-0306-CB9921F86CE0}"/>
          </ac:spMkLst>
        </pc:spChg>
        <pc:spChg chg="mod">
          <ac:chgData name="Cid Quirino" userId="6ee977d2-7df1-4b5d-be45-d1282a62ed02" providerId="ADAL" clId="{258C06EC-7E8F-4AA5-B3DB-5C8CF8EEA7E6}" dt="2025-12-23T14:49:56.060" v="168" actId="20577"/>
          <ac:spMkLst>
            <pc:docMk/>
            <pc:sldMk cId="2878545971" sldId="271"/>
            <ac:spMk id="27" creationId="{2F351222-8A59-8F29-A00D-BB2105FBB491}"/>
          </ac:spMkLst>
        </pc:spChg>
        <pc:spChg chg="add mod">
          <ac:chgData name="Cid Quirino" userId="6ee977d2-7df1-4b5d-be45-d1282a62ed02" providerId="ADAL" clId="{258C06EC-7E8F-4AA5-B3DB-5C8CF8EEA7E6}" dt="2025-12-23T14:52:53.530" v="210" actId="12789"/>
          <ac:spMkLst>
            <pc:docMk/>
            <pc:sldMk cId="2878545971" sldId="271"/>
            <ac:spMk id="29" creationId="{280B63EC-AB65-29B7-FBD7-041C7AAD3F58}"/>
          </ac:spMkLst>
        </pc:spChg>
        <pc:spChg chg="add mod">
          <ac:chgData name="Cid Quirino" userId="6ee977d2-7df1-4b5d-be45-d1282a62ed02" providerId="ADAL" clId="{258C06EC-7E8F-4AA5-B3DB-5C8CF8EEA7E6}" dt="2025-12-23T14:52:48.536" v="209" actId="12789"/>
          <ac:spMkLst>
            <pc:docMk/>
            <pc:sldMk cId="2878545971" sldId="271"/>
            <ac:spMk id="30" creationId="{02032DA5-81D8-543B-74ED-2CF1B0C0E4E8}"/>
          </ac:spMkLst>
        </pc:spChg>
        <pc:spChg chg="add mod">
          <ac:chgData name="Cid Quirino" userId="6ee977d2-7df1-4b5d-be45-d1282a62ed02" providerId="ADAL" clId="{258C06EC-7E8F-4AA5-B3DB-5C8CF8EEA7E6}" dt="2025-12-23T14:52:40.712" v="208" actId="12789"/>
          <ac:spMkLst>
            <pc:docMk/>
            <pc:sldMk cId="2878545971" sldId="271"/>
            <ac:spMk id="31" creationId="{4409FDDC-807A-0C5D-E2C0-863A163AFABA}"/>
          </ac:spMkLst>
        </pc:spChg>
        <pc:graphicFrameChg chg="mod">
          <ac:chgData name="Cid Quirino" userId="6ee977d2-7df1-4b5d-be45-d1282a62ed02" providerId="ADAL" clId="{258C06EC-7E8F-4AA5-B3DB-5C8CF8EEA7E6}" dt="2025-12-23T14:44:45.135" v="86" actId="14100"/>
          <ac:graphicFrameMkLst>
            <pc:docMk/>
            <pc:sldMk cId="2878545971" sldId="271"/>
            <ac:graphicFrameMk id="7" creationId="{00000000-0008-0000-0200-000002000000}"/>
          </ac:graphicFrameMkLst>
        </pc:graphicFrameChg>
        <pc:graphicFrameChg chg="add mod">
          <ac:chgData name="Cid Quirino" userId="6ee977d2-7df1-4b5d-be45-d1282a62ed02" providerId="ADAL" clId="{258C06EC-7E8F-4AA5-B3DB-5C8CF8EEA7E6}" dt="2025-12-23T14:40:10.953" v="12"/>
          <ac:graphicFrameMkLst>
            <pc:docMk/>
            <pc:sldMk cId="2878545971" sldId="271"/>
            <ac:graphicFrameMk id="20" creationId="{CFD0D660-CE29-8268-74B5-3F83A5009D60}"/>
          </ac:graphicFrameMkLst>
        </pc:graphicFrameChg>
        <pc:cxnChg chg="mod">
          <ac:chgData name="Cid Quirino" userId="6ee977d2-7df1-4b5d-be45-d1282a62ed02" providerId="ADAL" clId="{258C06EC-7E8F-4AA5-B3DB-5C8CF8EEA7E6}" dt="2025-12-23T14:44:41.869" v="85" actId="1076"/>
          <ac:cxnSpMkLst>
            <pc:docMk/>
            <pc:sldMk cId="2878545971" sldId="271"/>
            <ac:cxnSpMk id="6" creationId="{F6462CF5-D779-381D-428D-A2FC23B089D8}"/>
          </ac:cxnSpMkLst>
        </pc:cxnChg>
        <pc:cxnChg chg="mod">
          <ac:chgData name="Cid Quirino" userId="6ee977d2-7df1-4b5d-be45-d1282a62ed02" providerId="ADAL" clId="{258C06EC-7E8F-4AA5-B3DB-5C8CF8EEA7E6}" dt="2025-12-23T14:44:59.357" v="89" actId="14100"/>
          <ac:cxnSpMkLst>
            <pc:docMk/>
            <pc:sldMk cId="2878545971" sldId="271"/>
            <ac:cxnSpMk id="11" creationId="{38E944FD-9ABD-1CD2-6070-E250CAAF7FE0}"/>
          </ac:cxnSpMkLst>
        </pc:cxn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oleObject" Target="file:///C:\Users\J-cquirino\Downloads\Grafico_R$porHora_Garantias.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J-cquirino\Downloads\resultado_projecao_unitaria_5000_10000h.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J-cquirino\Downloads\resultado_projecao_unitaria_5000_10000h.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C:\Users\J-cquirino\Downloads\resultado_projecao_unitaria_5000_10000h.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C:\Users\J-cquirino\Downloads\resultado_projecao_unitaria_5000_10000h.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900"/>
            </a:pPr>
            <a:r>
              <a:rPr lang="pt-BR" sz="900"/>
              <a:t>R$/h x Tempo – Garantia 5.000hs + projeção até 10.000hs </a:t>
            </a:r>
          </a:p>
        </c:rich>
      </c:tx>
      <c:layout>
        <c:manualLayout>
          <c:xMode val="edge"/>
          <c:yMode val="edge"/>
          <c:x val="0.1364076810587582"/>
          <c:y val="0"/>
        </c:manualLayout>
      </c:layout>
      <c:overlay val="1"/>
    </c:title>
    <c:autoTitleDeleted val="0"/>
    <c:plotArea>
      <c:layout>
        <c:manualLayout>
          <c:layoutTarget val="inner"/>
          <c:xMode val="edge"/>
          <c:yMode val="edge"/>
          <c:x val="6.2945998317016527E-2"/>
          <c:y val="9.4098625298256869E-2"/>
          <c:w val="0.91072059512494064"/>
          <c:h val="0.66537588591468411"/>
        </c:manualLayout>
      </c:layout>
      <c:areaChart>
        <c:grouping val="stacked"/>
        <c:varyColors val="1"/>
        <c:ser>
          <c:idx val="2"/>
          <c:order val="2"/>
          <c:tx>
            <c:strRef>
              <c:f>Séries!$E$1</c:f>
              <c:strCache>
                <c:ptCount val="1"/>
                <c:pt idx="0">
                  <c:v>Area</c:v>
                </c:pt>
              </c:strCache>
            </c:strRef>
          </c:tx>
          <c:cat>
            <c:strRef>
              <c:f>Séries!$A$1:$A$20</c:f>
              <c:strCache>
                <c:ptCount val="20"/>
                <c:pt idx="0">
                  <c:v>Horas</c:v>
                </c:pt>
                <c:pt idx="1">
                  <c:v>0</c:v>
                </c:pt>
                <c:pt idx="2">
                  <c:v>250</c:v>
                </c:pt>
                <c:pt idx="3">
                  <c:v>500</c:v>
                </c:pt>
                <c:pt idx="4">
                  <c:v>750</c:v>
                </c:pt>
                <c:pt idx="5">
                  <c:v>1000</c:v>
                </c:pt>
                <c:pt idx="6">
                  <c:v>1250</c:v>
                </c:pt>
                <c:pt idx="7">
                  <c:v>1500</c:v>
                </c:pt>
                <c:pt idx="8">
                  <c:v>1750</c:v>
                </c:pt>
                <c:pt idx="9">
                  <c:v>2000</c:v>
                </c:pt>
                <c:pt idx="10">
                  <c:v>2250</c:v>
                </c:pt>
                <c:pt idx="11">
                  <c:v>2500</c:v>
                </c:pt>
                <c:pt idx="12">
                  <c:v>2750</c:v>
                </c:pt>
                <c:pt idx="13">
                  <c:v>3000</c:v>
                </c:pt>
                <c:pt idx="14">
                  <c:v>3250</c:v>
                </c:pt>
                <c:pt idx="15">
                  <c:v>3500</c:v>
                </c:pt>
                <c:pt idx="16">
                  <c:v>3750</c:v>
                </c:pt>
                <c:pt idx="17">
                  <c:v>4000</c:v>
                </c:pt>
                <c:pt idx="18">
                  <c:v>4250</c:v>
                </c:pt>
                <c:pt idx="19">
                  <c:v>4500</c:v>
                </c:pt>
              </c:strCache>
            </c:strRef>
          </c:cat>
          <c:val>
            <c:numRef>
              <c:f>Séries!$E$2:$E$42</c:f>
              <c:numCache>
                <c:formatCode>General</c:formatCode>
                <c:ptCount val="41"/>
                <c:pt idx="21">
                  <c:v>33</c:v>
                </c:pt>
                <c:pt idx="22">
                  <c:v>35.75</c:v>
                </c:pt>
                <c:pt idx="23">
                  <c:v>38.625</c:v>
                </c:pt>
                <c:pt idx="24">
                  <c:v>41.625</c:v>
                </c:pt>
                <c:pt idx="25">
                  <c:v>44.75</c:v>
                </c:pt>
                <c:pt idx="26">
                  <c:v>48</c:v>
                </c:pt>
                <c:pt idx="27">
                  <c:v>51.375</c:v>
                </c:pt>
                <c:pt idx="28">
                  <c:v>54.875</c:v>
                </c:pt>
                <c:pt idx="29">
                  <c:v>58.5</c:v>
                </c:pt>
                <c:pt idx="30">
                  <c:v>62.25</c:v>
                </c:pt>
                <c:pt idx="31">
                  <c:v>66.125</c:v>
                </c:pt>
                <c:pt idx="32">
                  <c:v>70.125</c:v>
                </c:pt>
                <c:pt idx="33">
                  <c:v>74.25</c:v>
                </c:pt>
                <c:pt idx="34">
                  <c:v>78.5</c:v>
                </c:pt>
                <c:pt idx="35">
                  <c:v>82.875</c:v>
                </c:pt>
                <c:pt idx="36">
                  <c:v>87.375</c:v>
                </c:pt>
                <c:pt idx="37">
                  <c:v>92</c:v>
                </c:pt>
                <c:pt idx="38">
                  <c:v>96.75</c:v>
                </c:pt>
                <c:pt idx="39">
                  <c:v>101.625</c:v>
                </c:pt>
                <c:pt idx="40">
                  <c:v>106.625</c:v>
                </c:pt>
              </c:numCache>
            </c:numRef>
          </c:val>
          <c:extLst>
            <c:ext xmlns:c16="http://schemas.microsoft.com/office/drawing/2014/chart" uri="{C3380CC4-5D6E-409C-BE32-E72D297353CC}">
              <c16:uniqueId val="{00000000-528D-4E2C-9B63-2E0455789473}"/>
            </c:ext>
          </c:extLst>
        </c:ser>
        <c:dLbls>
          <c:showLegendKey val="0"/>
          <c:showVal val="0"/>
          <c:showCatName val="0"/>
          <c:showSerName val="0"/>
          <c:showPercent val="0"/>
          <c:showBubbleSize val="0"/>
        </c:dLbls>
        <c:axId val="10"/>
        <c:axId val="100"/>
      </c:areaChart>
      <c:lineChart>
        <c:grouping val="standard"/>
        <c:varyColors val="1"/>
        <c:ser>
          <c:idx val="0"/>
          <c:order val="0"/>
          <c:tx>
            <c:strRef>
              <c:f>Séries!$C$1</c:f>
              <c:strCache>
                <c:ptCount val="1"/>
                <c:pt idx="0">
                  <c:v>R$/h Teórico (0–5.000)</c:v>
                </c:pt>
              </c:strCache>
            </c:strRef>
          </c:tx>
          <c:spPr>
            <a:ln>
              <a:solidFill>
                <a:srgbClr val="FFC000"/>
              </a:solidFill>
              <a:prstDash val="solid"/>
            </a:ln>
          </c:spPr>
          <c:marker>
            <c:symbol val="none"/>
          </c:marker>
          <c:cat>
            <c:strRef>
              <c:f>Séries!$A$1:$A$42</c:f>
              <c:strCache>
                <c:ptCount val="42"/>
                <c:pt idx="0">
                  <c:v>Horas</c:v>
                </c:pt>
                <c:pt idx="1">
                  <c:v>0</c:v>
                </c:pt>
                <c:pt idx="2">
                  <c:v>250</c:v>
                </c:pt>
                <c:pt idx="3">
                  <c:v>500</c:v>
                </c:pt>
                <c:pt idx="4">
                  <c:v>750</c:v>
                </c:pt>
                <c:pt idx="5">
                  <c:v>1000</c:v>
                </c:pt>
                <c:pt idx="6">
                  <c:v>1250</c:v>
                </c:pt>
                <c:pt idx="7">
                  <c:v>1500</c:v>
                </c:pt>
                <c:pt idx="8">
                  <c:v>1750</c:v>
                </c:pt>
                <c:pt idx="9">
                  <c:v>2000</c:v>
                </c:pt>
                <c:pt idx="10">
                  <c:v>2250</c:v>
                </c:pt>
                <c:pt idx="11">
                  <c:v>2500</c:v>
                </c:pt>
                <c:pt idx="12">
                  <c:v>2750</c:v>
                </c:pt>
                <c:pt idx="13">
                  <c:v>3000</c:v>
                </c:pt>
                <c:pt idx="14">
                  <c:v>3250</c:v>
                </c:pt>
                <c:pt idx="15">
                  <c:v>3500</c:v>
                </c:pt>
                <c:pt idx="16">
                  <c:v>3750</c:v>
                </c:pt>
                <c:pt idx="17">
                  <c:v>4000</c:v>
                </c:pt>
                <c:pt idx="18">
                  <c:v>4250</c:v>
                </c:pt>
                <c:pt idx="19">
                  <c:v>4500</c:v>
                </c:pt>
                <c:pt idx="20">
                  <c:v>4750</c:v>
                </c:pt>
                <c:pt idx="21">
                  <c:v>5000</c:v>
                </c:pt>
                <c:pt idx="22">
                  <c:v>5250</c:v>
                </c:pt>
                <c:pt idx="23">
                  <c:v>5500</c:v>
                </c:pt>
                <c:pt idx="24">
                  <c:v>5750</c:v>
                </c:pt>
                <c:pt idx="25">
                  <c:v>6000</c:v>
                </c:pt>
                <c:pt idx="26">
                  <c:v>6250</c:v>
                </c:pt>
                <c:pt idx="27">
                  <c:v>6500</c:v>
                </c:pt>
                <c:pt idx="28">
                  <c:v>6750</c:v>
                </c:pt>
                <c:pt idx="29">
                  <c:v>7000</c:v>
                </c:pt>
                <c:pt idx="30">
                  <c:v>7250</c:v>
                </c:pt>
                <c:pt idx="31">
                  <c:v>7500</c:v>
                </c:pt>
                <c:pt idx="32">
                  <c:v>7750</c:v>
                </c:pt>
                <c:pt idx="33">
                  <c:v>8000</c:v>
                </c:pt>
                <c:pt idx="34">
                  <c:v>8250</c:v>
                </c:pt>
                <c:pt idx="35">
                  <c:v>8500</c:v>
                </c:pt>
                <c:pt idx="36">
                  <c:v>8750</c:v>
                </c:pt>
                <c:pt idx="37">
                  <c:v>9000</c:v>
                </c:pt>
                <c:pt idx="38">
                  <c:v>9250</c:v>
                </c:pt>
                <c:pt idx="39">
                  <c:v>9500</c:v>
                </c:pt>
                <c:pt idx="40">
                  <c:v>9750</c:v>
                </c:pt>
                <c:pt idx="41">
                  <c:v>10000</c:v>
                </c:pt>
              </c:strCache>
            </c:strRef>
          </c:cat>
          <c:val>
            <c:numRef>
              <c:f>Séries!$C$2:$C$42</c:f>
              <c:numCache>
                <c:formatCode>General</c:formatCode>
                <c:ptCount val="41"/>
                <c:pt idx="0">
                  <c:v>12</c:v>
                </c:pt>
                <c:pt idx="1">
                  <c:v>12.375</c:v>
                </c:pt>
                <c:pt idx="2">
                  <c:v>12.75</c:v>
                </c:pt>
                <c:pt idx="3">
                  <c:v>13.125</c:v>
                </c:pt>
                <c:pt idx="4">
                  <c:v>13.5</c:v>
                </c:pt>
                <c:pt idx="5">
                  <c:v>13.875</c:v>
                </c:pt>
                <c:pt idx="6">
                  <c:v>14.25</c:v>
                </c:pt>
                <c:pt idx="7">
                  <c:v>14.625</c:v>
                </c:pt>
                <c:pt idx="8">
                  <c:v>15</c:v>
                </c:pt>
                <c:pt idx="9">
                  <c:v>15.375</c:v>
                </c:pt>
                <c:pt idx="10">
                  <c:v>15.75</c:v>
                </c:pt>
                <c:pt idx="11">
                  <c:v>16.125</c:v>
                </c:pt>
                <c:pt idx="12">
                  <c:v>16.5</c:v>
                </c:pt>
                <c:pt idx="13">
                  <c:v>16.875</c:v>
                </c:pt>
                <c:pt idx="14">
                  <c:v>17.25</c:v>
                </c:pt>
                <c:pt idx="15">
                  <c:v>19.125</c:v>
                </c:pt>
                <c:pt idx="16">
                  <c:v>21.125</c:v>
                </c:pt>
                <c:pt idx="17">
                  <c:v>23.25</c:v>
                </c:pt>
                <c:pt idx="18">
                  <c:v>25.5</c:v>
                </c:pt>
                <c:pt idx="19">
                  <c:v>27.875</c:v>
                </c:pt>
                <c:pt idx="20">
                  <c:v>30.375</c:v>
                </c:pt>
                <c:pt idx="21">
                  <c:v>33</c:v>
                </c:pt>
                <c:pt idx="22">
                  <c:v>35.75</c:v>
                </c:pt>
                <c:pt idx="23">
                  <c:v>38.625</c:v>
                </c:pt>
                <c:pt idx="24">
                  <c:v>41.625</c:v>
                </c:pt>
                <c:pt idx="25">
                  <c:v>44.75</c:v>
                </c:pt>
                <c:pt idx="26">
                  <c:v>48</c:v>
                </c:pt>
                <c:pt idx="27">
                  <c:v>51.375</c:v>
                </c:pt>
                <c:pt idx="28">
                  <c:v>54.875</c:v>
                </c:pt>
                <c:pt idx="29">
                  <c:v>58.5</c:v>
                </c:pt>
                <c:pt idx="30">
                  <c:v>62.25</c:v>
                </c:pt>
                <c:pt idx="31">
                  <c:v>66.125</c:v>
                </c:pt>
                <c:pt idx="32">
                  <c:v>70.125</c:v>
                </c:pt>
                <c:pt idx="33">
                  <c:v>74.25</c:v>
                </c:pt>
                <c:pt idx="34">
                  <c:v>78.5</c:v>
                </c:pt>
                <c:pt idx="35">
                  <c:v>82.875</c:v>
                </c:pt>
                <c:pt idx="36">
                  <c:v>87.375</c:v>
                </c:pt>
                <c:pt idx="37">
                  <c:v>92</c:v>
                </c:pt>
                <c:pt idx="38">
                  <c:v>96.75</c:v>
                </c:pt>
                <c:pt idx="39">
                  <c:v>101.625</c:v>
                </c:pt>
                <c:pt idx="40">
                  <c:v>106.625</c:v>
                </c:pt>
              </c:numCache>
            </c:numRef>
          </c:val>
          <c:smooth val="1"/>
          <c:extLst>
            <c:ext xmlns:c16="http://schemas.microsoft.com/office/drawing/2014/chart" uri="{C3380CC4-5D6E-409C-BE32-E72D297353CC}">
              <c16:uniqueId val="{00000001-528D-4E2C-9B63-2E0455789473}"/>
            </c:ext>
          </c:extLst>
        </c:ser>
        <c:ser>
          <c:idx val="1"/>
          <c:order val="1"/>
          <c:tx>
            <c:strRef>
              <c:f>Séries!$D$1</c:f>
              <c:strCache>
                <c:ptCount val="1"/>
                <c:pt idx="0">
                  <c:v>R$/h Projeção (5.000–10.000)</c:v>
                </c:pt>
              </c:strCache>
            </c:strRef>
          </c:tx>
          <c:spPr>
            <a:ln w="38100">
              <a:solidFill>
                <a:schemeClr val="tx2">
                  <a:lumMod val="75000"/>
                </a:schemeClr>
              </a:solidFill>
              <a:prstDash val="dash"/>
            </a:ln>
          </c:spPr>
          <c:marker>
            <c:symbol val="none"/>
          </c:marker>
          <c:cat>
            <c:strRef>
              <c:f>Séries!$A$1:$A$42</c:f>
              <c:strCache>
                <c:ptCount val="42"/>
                <c:pt idx="0">
                  <c:v>Horas</c:v>
                </c:pt>
                <c:pt idx="1">
                  <c:v>0</c:v>
                </c:pt>
                <c:pt idx="2">
                  <c:v>250</c:v>
                </c:pt>
                <c:pt idx="3">
                  <c:v>500</c:v>
                </c:pt>
                <c:pt idx="4">
                  <c:v>750</c:v>
                </c:pt>
                <c:pt idx="5">
                  <c:v>1000</c:v>
                </c:pt>
                <c:pt idx="6">
                  <c:v>1250</c:v>
                </c:pt>
                <c:pt idx="7">
                  <c:v>1500</c:v>
                </c:pt>
                <c:pt idx="8">
                  <c:v>1750</c:v>
                </c:pt>
                <c:pt idx="9">
                  <c:v>2000</c:v>
                </c:pt>
                <c:pt idx="10">
                  <c:v>2250</c:v>
                </c:pt>
                <c:pt idx="11">
                  <c:v>2500</c:v>
                </c:pt>
                <c:pt idx="12">
                  <c:v>2750</c:v>
                </c:pt>
                <c:pt idx="13">
                  <c:v>3000</c:v>
                </c:pt>
                <c:pt idx="14">
                  <c:v>3250</c:v>
                </c:pt>
                <c:pt idx="15">
                  <c:v>3500</c:v>
                </c:pt>
                <c:pt idx="16">
                  <c:v>3750</c:v>
                </c:pt>
                <c:pt idx="17">
                  <c:v>4000</c:v>
                </c:pt>
                <c:pt idx="18">
                  <c:v>4250</c:v>
                </c:pt>
                <c:pt idx="19">
                  <c:v>4500</c:v>
                </c:pt>
                <c:pt idx="20">
                  <c:v>4750</c:v>
                </c:pt>
                <c:pt idx="21">
                  <c:v>5000</c:v>
                </c:pt>
                <c:pt idx="22">
                  <c:v>5250</c:v>
                </c:pt>
                <c:pt idx="23">
                  <c:v>5500</c:v>
                </c:pt>
                <c:pt idx="24">
                  <c:v>5750</c:v>
                </c:pt>
                <c:pt idx="25">
                  <c:v>6000</c:v>
                </c:pt>
                <c:pt idx="26">
                  <c:v>6250</c:v>
                </c:pt>
                <c:pt idx="27">
                  <c:v>6500</c:v>
                </c:pt>
                <c:pt idx="28">
                  <c:v>6750</c:v>
                </c:pt>
                <c:pt idx="29">
                  <c:v>7000</c:v>
                </c:pt>
                <c:pt idx="30">
                  <c:v>7250</c:v>
                </c:pt>
                <c:pt idx="31">
                  <c:v>7500</c:v>
                </c:pt>
                <c:pt idx="32">
                  <c:v>7750</c:v>
                </c:pt>
                <c:pt idx="33">
                  <c:v>8000</c:v>
                </c:pt>
                <c:pt idx="34">
                  <c:v>8250</c:v>
                </c:pt>
                <c:pt idx="35">
                  <c:v>8500</c:v>
                </c:pt>
                <c:pt idx="36">
                  <c:v>8750</c:v>
                </c:pt>
                <c:pt idx="37">
                  <c:v>9000</c:v>
                </c:pt>
                <c:pt idx="38">
                  <c:v>9250</c:v>
                </c:pt>
                <c:pt idx="39">
                  <c:v>9500</c:v>
                </c:pt>
                <c:pt idx="40">
                  <c:v>9750</c:v>
                </c:pt>
                <c:pt idx="41">
                  <c:v>10000</c:v>
                </c:pt>
              </c:strCache>
            </c:strRef>
          </c:cat>
          <c:val>
            <c:numRef>
              <c:f>Séries!$D$2:$D$42</c:f>
              <c:numCache>
                <c:formatCode>General</c:formatCode>
                <c:ptCount val="4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30.375</c:v>
                </c:pt>
                <c:pt idx="21">
                  <c:v>33</c:v>
                </c:pt>
                <c:pt idx="22">
                  <c:v>35.75</c:v>
                </c:pt>
                <c:pt idx="23">
                  <c:v>38.625</c:v>
                </c:pt>
                <c:pt idx="24">
                  <c:v>41.625</c:v>
                </c:pt>
                <c:pt idx="25">
                  <c:v>44.75</c:v>
                </c:pt>
                <c:pt idx="26">
                  <c:v>48</c:v>
                </c:pt>
                <c:pt idx="27">
                  <c:v>51.375</c:v>
                </c:pt>
                <c:pt idx="28">
                  <c:v>54.875</c:v>
                </c:pt>
                <c:pt idx="29">
                  <c:v>58.5</c:v>
                </c:pt>
                <c:pt idx="30">
                  <c:v>62.25</c:v>
                </c:pt>
                <c:pt idx="31">
                  <c:v>66.125</c:v>
                </c:pt>
                <c:pt idx="32">
                  <c:v>70.125</c:v>
                </c:pt>
                <c:pt idx="33">
                  <c:v>74.25</c:v>
                </c:pt>
                <c:pt idx="34">
                  <c:v>78.5</c:v>
                </c:pt>
                <c:pt idx="35">
                  <c:v>82.875</c:v>
                </c:pt>
                <c:pt idx="36">
                  <c:v>87.375</c:v>
                </c:pt>
                <c:pt idx="37">
                  <c:v>92</c:v>
                </c:pt>
                <c:pt idx="38">
                  <c:v>96.75</c:v>
                </c:pt>
                <c:pt idx="39">
                  <c:v>101.625</c:v>
                </c:pt>
                <c:pt idx="40">
                  <c:v>106.625</c:v>
                </c:pt>
              </c:numCache>
            </c:numRef>
          </c:val>
          <c:smooth val="1"/>
          <c:extLst>
            <c:ext xmlns:c16="http://schemas.microsoft.com/office/drawing/2014/chart" uri="{C3380CC4-5D6E-409C-BE32-E72D297353CC}">
              <c16:uniqueId val="{00000002-528D-4E2C-9B63-2E0455789473}"/>
            </c:ext>
          </c:extLst>
        </c:ser>
        <c:dLbls>
          <c:showLegendKey val="0"/>
          <c:showVal val="0"/>
          <c:showCatName val="0"/>
          <c:showSerName val="0"/>
          <c:showPercent val="0"/>
          <c:showBubbleSize val="0"/>
        </c:dLbls>
        <c:marker val="1"/>
        <c:smooth val="0"/>
        <c:axId val="10"/>
        <c:axId val="100"/>
      </c:lineChart>
      <c:catAx>
        <c:axId val="10"/>
        <c:scaling>
          <c:orientation val="minMax"/>
        </c:scaling>
        <c:delete val="0"/>
        <c:axPos val="b"/>
        <c:title>
          <c:tx>
            <c:rich>
              <a:bodyPr/>
              <a:lstStyle/>
              <a:p>
                <a:pPr>
                  <a:defRPr/>
                </a:pPr>
                <a:r>
                  <a:rPr lang="pt-BR"/>
                  <a:t>Horas de operação</a:t>
                </a:r>
              </a:p>
            </c:rich>
          </c:tx>
          <c:layout>
            <c:manualLayout>
              <c:xMode val="edge"/>
              <c:yMode val="edge"/>
              <c:x val="0.4392977821444034"/>
              <c:y val="0.92472919666104103"/>
            </c:manualLayout>
          </c:layout>
          <c:overlay val="1"/>
        </c:title>
        <c:numFmt formatCode="General" sourceLinked="1"/>
        <c:majorTickMark val="out"/>
        <c:minorTickMark val="none"/>
        <c:tickLblPos val="nextTo"/>
        <c:crossAx val="100"/>
        <c:crosses val="autoZero"/>
        <c:auto val="1"/>
        <c:lblAlgn val="ctr"/>
        <c:lblOffset val="100"/>
        <c:noMultiLvlLbl val="1"/>
      </c:catAx>
      <c:valAx>
        <c:axId val="100"/>
        <c:scaling>
          <c:orientation val="minMax"/>
        </c:scaling>
        <c:delete val="1"/>
        <c:axPos val="l"/>
        <c:title>
          <c:tx>
            <c:rich>
              <a:bodyPr/>
              <a:lstStyle/>
              <a:p>
                <a:pPr>
                  <a:defRPr sz="900"/>
                </a:pPr>
                <a:r>
                  <a:rPr lang="pt-BR" sz="900"/>
                  <a:t>Custo de Garantia (R$/h)</a:t>
                </a:r>
              </a:p>
            </c:rich>
          </c:tx>
          <c:layout>
            <c:manualLayout>
              <c:xMode val="edge"/>
              <c:yMode val="edge"/>
              <c:x val="0"/>
              <c:y val="0.15300812473273906"/>
            </c:manualLayout>
          </c:layout>
          <c:overlay val="1"/>
        </c:title>
        <c:numFmt formatCode="General" sourceLinked="1"/>
        <c:majorTickMark val="none"/>
        <c:minorTickMark val="none"/>
        <c:tickLblPos val="nextTo"/>
        <c:crossAx val="10"/>
        <c:crosses val="autoZero"/>
        <c:crossBetween val="between"/>
      </c:valAx>
    </c:plotArea>
    <c:legend>
      <c:legendPos val="r"/>
      <c:layout>
        <c:manualLayout>
          <c:xMode val="edge"/>
          <c:yMode val="edge"/>
          <c:x val="4.2924913194444442E-2"/>
          <c:y val="0.1931993058088077"/>
          <c:w val="0.58389629926465314"/>
          <c:h val="0.30870351259708717"/>
        </c:manualLayout>
      </c:layout>
      <c:overlay val="1"/>
      <c:txPr>
        <a:bodyPr/>
        <a:lstStyle/>
        <a:p>
          <a:pPr>
            <a:defRPr sz="600"/>
          </a:pPr>
          <a:endParaRPr lang="pt-BR"/>
        </a:p>
      </c:txPr>
    </c:legend>
    <c:plotVisOnly val="1"/>
    <c:dispBlanksAs val="gap"/>
    <c:showDLblsOverMax val="1"/>
  </c:chart>
  <c:txPr>
    <a:bodyPr/>
    <a:lstStyle/>
    <a:p>
      <a:pPr>
        <a:defRPr sz="700"/>
      </a:pPr>
      <a:endParaRPr lang="pt-BR"/>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48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a:t>Projeção (Conservative) Unitária 5000 a 10000hs (CPU-Custo Unitário Produto)</a:t>
            </a:r>
          </a:p>
        </c:rich>
      </c:tx>
      <c:layout>
        <c:manualLayout>
          <c:xMode val="edge"/>
          <c:yMode val="edge"/>
          <c:x val="9.2191724273598202E-2"/>
          <c:y val="3.366143662770716E-2"/>
        </c:manualLayout>
      </c:layout>
      <c:overlay val="0"/>
      <c:spPr>
        <a:noFill/>
        <a:ln>
          <a:noFill/>
        </a:ln>
        <a:effectLst/>
      </c:spPr>
      <c:txPr>
        <a:bodyPr rot="0" spcFirstLastPara="1" vertOverflow="ellipsis" vert="horz" wrap="square" anchor="ctr" anchorCtr="1"/>
        <a:lstStyle/>
        <a:p>
          <a:pPr>
            <a:defRPr sz="48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autoTitleDeleted val="0"/>
    <c:plotArea>
      <c:layout>
        <c:manualLayout>
          <c:layoutTarget val="inner"/>
          <c:xMode val="edge"/>
          <c:yMode val="edge"/>
          <c:x val="1.4510051040688489E-2"/>
          <c:y val="0.24016065605344836"/>
          <c:w val="0.97097989791862305"/>
          <c:h val="0.47264102684168258"/>
        </c:manualLayout>
      </c:layout>
      <c:barChart>
        <c:barDir val="col"/>
        <c:grouping val="clustered"/>
        <c:varyColors val="0"/>
        <c:ser>
          <c:idx val="1"/>
          <c:order val="0"/>
          <c:tx>
            <c:strRef>
              <c:f>Sheet1!$G$1</c:f>
              <c:strCache>
                <c:ptCount val="1"/>
                <c:pt idx="0">
                  <c:v>PROJ_CONSERVADOR_UNIT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Sheet1!$G$2:$G$4</c:f>
              <c:numCache>
                <c:formatCode>_-[$R$-416]\ * #,##0.00_-;\-[$R$-416]\ * #,##0.00_-;_-[$R$-416]\ * "-"??_-;_-@_-</c:formatCode>
                <c:ptCount val="3"/>
                <c:pt idx="0">
                  <c:v>10883.905937888199</c:v>
                </c:pt>
                <c:pt idx="1">
                  <c:v>13524.162</c:v>
                </c:pt>
                <c:pt idx="2">
                  <c:v>7450.3932307692312</c:v>
                </c:pt>
              </c:numCache>
            </c:numRef>
          </c:val>
          <c:extLst>
            <c:ext xmlns:c16="http://schemas.microsoft.com/office/drawing/2014/chart" uri="{C3380CC4-5D6E-409C-BE32-E72D297353CC}">
              <c16:uniqueId val="{00000000-2B73-4448-BE32-BC67F57AE044}"/>
            </c:ext>
          </c:extLst>
        </c:ser>
        <c:dLbls>
          <c:showLegendKey val="0"/>
          <c:showVal val="0"/>
          <c:showCatName val="0"/>
          <c:showSerName val="0"/>
          <c:showPercent val="0"/>
          <c:showBubbleSize val="0"/>
        </c:dLbls>
        <c:gapWidth val="100"/>
        <c:overlap val="-27"/>
        <c:axId val="1478651055"/>
        <c:axId val="1958532816"/>
      </c:barChart>
      <c:catAx>
        <c:axId val="147865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958532816"/>
        <c:crosses val="autoZero"/>
        <c:auto val="1"/>
        <c:lblAlgn val="ctr"/>
        <c:lblOffset val="100"/>
        <c:noMultiLvlLbl val="0"/>
      </c:catAx>
      <c:valAx>
        <c:axId val="1958532816"/>
        <c:scaling>
          <c:orientation val="minMax"/>
        </c:scaling>
        <c:delete val="1"/>
        <c:axPos val="l"/>
        <c:numFmt formatCode="_-[$R$-416]\ * #,##0.00_-;\-[$R$-416]\ * #,##0.00_-;_-[$R$-416]\ * &quot;-&quot;??_-;_-@_-" sourceLinked="1"/>
        <c:majorTickMark val="none"/>
        <c:minorTickMark val="none"/>
        <c:tickLblPos val="nextTo"/>
        <c:crossAx val="1478651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chart>
  <c:spPr>
    <a:noFill/>
    <a:ln w="9525" cap="flat" cmpd="sng" algn="ctr">
      <a:noFill/>
      <a:round/>
    </a:ln>
    <a:effectLst/>
  </c:spPr>
  <c:txPr>
    <a:bodyPr/>
    <a:lstStyle/>
    <a:p>
      <a:pPr>
        <a:defRPr sz="400">
          <a:latin typeface="Arial" panose="020B0604020202020204" pitchFamily="34" charset="0"/>
          <a:cs typeface="Arial" panose="020B0604020202020204" pitchFamily="34" charset="0"/>
        </a:defRPr>
      </a:pPr>
      <a:endParaRPr lang="pt-B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6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a:t>Projeção (Realist) Unitária 5000 a 10000hs (CPU-Custo Unitário Produto)</a:t>
            </a:r>
          </a:p>
        </c:rich>
      </c:tx>
      <c:layout>
        <c:manualLayout>
          <c:xMode val="edge"/>
          <c:yMode val="edge"/>
          <c:x val="6.8258162929879893E-2"/>
          <c:y val="4.8024110372262487E-2"/>
        </c:manualLayout>
      </c:layout>
      <c:overlay val="0"/>
      <c:spPr>
        <a:noFill/>
        <a:ln>
          <a:noFill/>
        </a:ln>
        <a:effectLst/>
      </c:spPr>
      <c:txPr>
        <a:bodyPr rot="0" spcFirstLastPara="1" vertOverflow="ellipsis" vert="horz" wrap="square" anchor="ctr" anchorCtr="1"/>
        <a:lstStyle/>
        <a:p>
          <a:pPr>
            <a:defRPr sz="6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autoTitleDeleted val="0"/>
    <c:plotArea>
      <c:layout>
        <c:manualLayout>
          <c:layoutTarget val="inner"/>
          <c:xMode val="edge"/>
          <c:yMode val="edge"/>
          <c:x val="4.5311448908989832E-2"/>
          <c:y val="0.25933027824533006"/>
          <c:w val="0.90937710218202039"/>
          <c:h val="0.46435607136287083"/>
        </c:manualLayout>
      </c:layout>
      <c:barChart>
        <c:barDir val="col"/>
        <c:grouping val="clustered"/>
        <c:varyColors val="0"/>
        <c:ser>
          <c:idx val="1"/>
          <c:order val="0"/>
          <c:tx>
            <c:strRef>
              <c:f>Sheet1!$H$1</c:f>
              <c:strCache>
                <c:ptCount val="1"/>
                <c:pt idx="0">
                  <c:v>PROJ_REALISTA_UNIT</c:v>
                </c:pt>
              </c:strCache>
            </c:strRef>
          </c:tx>
          <c:spPr>
            <a:solidFill>
              <a:srgbClr val="92D050"/>
            </a:solidFill>
            <a:ln>
              <a:noFill/>
            </a:ln>
            <a:effectLst/>
          </c:spPr>
          <c:invertIfNegative val="0"/>
          <c:dLbls>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Sheet1!$H$2:$H$4</c:f>
              <c:numCache>
                <c:formatCode>_-[$R$-416]\ * #,##0.00_-;\-[$R$-416]\ * #,##0.00_-;_-[$R$-416]\ * "-"??_-;_-@_-</c:formatCode>
                <c:ptCount val="3"/>
                <c:pt idx="0">
                  <c:v>13604.88242236025</c:v>
                </c:pt>
                <c:pt idx="1">
                  <c:v>16905.202499999999</c:v>
                </c:pt>
                <c:pt idx="2">
                  <c:v>9312.9915384615379</c:v>
                </c:pt>
              </c:numCache>
            </c:numRef>
          </c:val>
          <c:extLst>
            <c:ext xmlns:c16="http://schemas.microsoft.com/office/drawing/2014/chart" uri="{C3380CC4-5D6E-409C-BE32-E72D297353CC}">
              <c16:uniqueId val="{00000000-2561-4C58-A1D6-990211E3E62A}"/>
            </c:ext>
          </c:extLst>
        </c:ser>
        <c:dLbls>
          <c:showLegendKey val="0"/>
          <c:showVal val="0"/>
          <c:showCatName val="0"/>
          <c:showSerName val="0"/>
          <c:showPercent val="0"/>
          <c:showBubbleSize val="0"/>
        </c:dLbls>
        <c:gapWidth val="100"/>
        <c:overlap val="-27"/>
        <c:axId val="1478651055"/>
        <c:axId val="1958532816"/>
      </c:barChart>
      <c:catAx>
        <c:axId val="147865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958532816"/>
        <c:crosses val="autoZero"/>
        <c:auto val="1"/>
        <c:lblAlgn val="ctr"/>
        <c:lblOffset val="100"/>
        <c:noMultiLvlLbl val="0"/>
      </c:catAx>
      <c:valAx>
        <c:axId val="1958532816"/>
        <c:scaling>
          <c:orientation val="minMax"/>
        </c:scaling>
        <c:delete val="1"/>
        <c:axPos val="l"/>
        <c:numFmt formatCode="_-[$R$-416]\ * #,##0.00_-;\-[$R$-416]\ * #,##0.00_-;_-[$R$-416]\ * &quot;-&quot;??_-;_-@_-" sourceLinked="1"/>
        <c:majorTickMark val="none"/>
        <c:minorTickMark val="none"/>
        <c:tickLblPos val="nextTo"/>
        <c:crossAx val="1478651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chart>
  <c:spPr>
    <a:noFill/>
    <a:ln w="9525" cap="flat" cmpd="sng" algn="ctr">
      <a:noFill/>
      <a:round/>
    </a:ln>
    <a:effectLst/>
  </c:spPr>
  <c:txPr>
    <a:bodyPr/>
    <a:lstStyle/>
    <a:p>
      <a:pPr>
        <a:defRPr sz="500">
          <a:latin typeface="Arial" panose="020B0604020202020204" pitchFamily="34" charset="0"/>
          <a:cs typeface="Arial" panose="020B0604020202020204" pitchFamily="34" charset="0"/>
        </a:defRPr>
      </a:pPr>
      <a:endParaRPr lang="pt-B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72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a:t>Projeção (Agressive) Unitária 5000 a 10000hs (CPU-Custo Unitário Produto)</a:t>
            </a:r>
          </a:p>
        </c:rich>
      </c:tx>
      <c:layout>
        <c:manualLayout>
          <c:xMode val="edge"/>
          <c:yMode val="edge"/>
          <c:x val="9.0140193932972151E-2"/>
          <c:y val="1.1027703849710632E-2"/>
        </c:manualLayout>
      </c:layout>
      <c:overlay val="0"/>
      <c:spPr>
        <a:noFill/>
        <a:ln>
          <a:noFill/>
        </a:ln>
        <a:effectLst/>
      </c:spPr>
      <c:txPr>
        <a:bodyPr rot="0" spcFirstLastPara="1" vertOverflow="ellipsis" vert="horz" wrap="square" anchor="ctr" anchorCtr="1"/>
        <a:lstStyle/>
        <a:p>
          <a:pPr>
            <a:defRPr sz="72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autoTitleDeleted val="0"/>
    <c:plotArea>
      <c:layout>
        <c:manualLayout>
          <c:layoutTarget val="inner"/>
          <c:xMode val="edge"/>
          <c:yMode val="edge"/>
          <c:x val="4.7141876125187498E-2"/>
          <c:y val="0.22672959115005059"/>
          <c:w val="0.905716247749625"/>
          <c:h val="0.51463775729499972"/>
        </c:manualLayout>
      </c:layout>
      <c:barChart>
        <c:barDir val="col"/>
        <c:grouping val="clustered"/>
        <c:varyColors val="0"/>
        <c:ser>
          <c:idx val="1"/>
          <c:order val="0"/>
          <c:tx>
            <c:strRef>
              <c:f>Sheet1!$I$1</c:f>
              <c:strCache>
                <c:ptCount val="1"/>
                <c:pt idx="0">
                  <c:v>PROJ_AGRESSIVO_UNIT</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Sheet1!$I$2:$I$4</c:f>
              <c:numCache>
                <c:formatCode>_-[$R$-416]\ * #,##0.00_-;\-[$R$-416]\ * #,##0.00_-;_-[$R$-416]\ * "-"??_-;_-@_-</c:formatCode>
                <c:ptCount val="3"/>
                <c:pt idx="0">
                  <c:v>18139.843229813661</c:v>
                </c:pt>
                <c:pt idx="1">
                  <c:v>22540.27</c:v>
                </c:pt>
                <c:pt idx="2">
                  <c:v>12417.32205128205</c:v>
                </c:pt>
              </c:numCache>
            </c:numRef>
          </c:val>
          <c:extLst>
            <c:ext xmlns:c16="http://schemas.microsoft.com/office/drawing/2014/chart" uri="{C3380CC4-5D6E-409C-BE32-E72D297353CC}">
              <c16:uniqueId val="{00000000-8D93-40BE-A1BE-37FA4D272040}"/>
            </c:ext>
          </c:extLst>
        </c:ser>
        <c:dLbls>
          <c:showLegendKey val="0"/>
          <c:showVal val="0"/>
          <c:showCatName val="0"/>
          <c:showSerName val="0"/>
          <c:showPercent val="0"/>
          <c:showBubbleSize val="0"/>
        </c:dLbls>
        <c:gapWidth val="100"/>
        <c:overlap val="-27"/>
        <c:axId val="1478651055"/>
        <c:axId val="1958532816"/>
      </c:barChart>
      <c:catAx>
        <c:axId val="147865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958532816"/>
        <c:crosses val="autoZero"/>
        <c:auto val="1"/>
        <c:lblAlgn val="ctr"/>
        <c:lblOffset val="100"/>
        <c:noMultiLvlLbl val="0"/>
      </c:catAx>
      <c:valAx>
        <c:axId val="1958532816"/>
        <c:scaling>
          <c:orientation val="minMax"/>
        </c:scaling>
        <c:delete val="1"/>
        <c:axPos val="l"/>
        <c:numFmt formatCode="_-[$R$-416]\ * #,##0.00_-;\-[$R$-416]\ * #,##0.00_-;_-[$R$-416]\ * &quot;-&quot;??_-;_-@_-" sourceLinked="1"/>
        <c:majorTickMark val="none"/>
        <c:minorTickMark val="none"/>
        <c:tickLblPos val="nextTo"/>
        <c:crossAx val="1478651055"/>
        <c:crosses val="autoZero"/>
        <c:crossBetween val="between"/>
      </c:valAx>
      <c:spPr>
        <a:noFill/>
        <a:ln>
          <a:noFill/>
        </a:ln>
        <a:effectLst/>
      </c:spPr>
    </c:plotArea>
    <c:legend>
      <c:legendPos val="b"/>
      <c:layout>
        <c:manualLayout>
          <c:xMode val="edge"/>
          <c:yMode val="edge"/>
          <c:x val="0.29935428790289514"/>
          <c:y val="0.86068710409891924"/>
          <c:w val="0.40129108674341424"/>
          <c:h val="0.1393128959010806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chart>
  <c:spPr>
    <a:noFill/>
    <a:ln w="9525" cap="flat" cmpd="sng" algn="ctr">
      <a:noFill/>
      <a:round/>
    </a:ln>
    <a:effectLst/>
  </c:spPr>
  <c:txPr>
    <a:bodyPr/>
    <a:lstStyle/>
    <a:p>
      <a:pPr>
        <a:defRPr sz="600">
          <a:latin typeface="Arial" panose="020B0604020202020204" pitchFamily="34" charset="0"/>
          <a:cs typeface="Arial" panose="020B0604020202020204" pitchFamily="34" charset="0"/>
        </a:defRPr>
      </a:pPr>
      <a:endParaRPr lang="pt-B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dirty="0"/>
              <a:t>Projeção Unitária 5000 a 10000hs (CPU-Custo Unitário Produto)</a:t>
            </a:r>
          </a:p>
        </c:rich>
      </c:tx>
      <c:layout>
        <c:manualLayout>
          <c:xMode val="edge"/>
          <c:yMode val="edge"/>
          <c:x val="0.26705156241417538"/>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autoTitleDeleted val="0"/>
    <c:plotArea>
      <c:layout>
        <c:manualLayout>
          <c:layoutTarget val="inner"/>
          <c:xMode val="edge"/>
          <c:yMode val="edge"/>
          <c:x val="1.5507973840479231E-2"/>
          <c:y val="9.737373737373739E-2"/>
          <c:w val="0.9689840523190415"/>
          <c:h val="0.59665488238418696"/>
        </c:manualLayout>
      </c:layout>
      <c:barChart>
        <c:barDir val="col"/>
        <c:grouping val="clustered"/>
        <c:varyColors val="0"/>
        <c:ser>
          <c:idx val="1"/>
          <c:order val="0"/>
          <c:tx>
            <c:strRef>
              <c:f>Sheet1!$G$1</c:f>
              <c:strCache>
                <c:ptCount val="1"/>
                <c:pt idx="0">
                  <c:v>PROJ_CONSERVADOR_UNIT</c:v>
                </c:pt>
              </c:strCache>
            </c:strRef>
          </c:tx>
          <c:spPr>
            <a:solidFill>
              <a:srgbClr val="FFC000"/>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Sheet1!$G$2:$G$4</c:f>
              <c:numCache>
                <c:formatCode>_-[$R$-416]\ * #,##0.00_-;\-[$R$-416]\ * #,##0.00_-;_-[$R$-416]\ * "-"??_-;_-@_-</c:formatCode>
                <c:ptCount val="3"/>
                <c:pt idx="0">
                  <c:v>10883.905937888199</c:v>
                </c:pt>
                <c:pt idx="1">
                  <c:v>13524.162</c:v>
                </c:pt>
                <c:pt idx="2">
                  <c:v>7450.3932307692312</c:v>
                </c:pt>
              </c:numCache>
            </c:numRef>
          </c:val>
          <c:extLst>
            <c:ext xmlns:c16="http://schemas.microsoft.com/office/drawing/2014/chart" uri="{C3380CC4-5D6E-409C-BE32-E72D297353CC}">
              <c16:uniqueId val="{00000000-E160-47B8-AFFE-E2CFD45D9EB2}"/>
            </c:ext>
          </c:extLst>
        </c:ser>
        <c:ser>
          <c:idx val="0"/>
          <c:order val="1"/>
          <c:tx>
            <c:strRef>
              <c:f>Sheet1!$H$1</c:f>
              <c:strCache>
                <c:ptCount val="1"/>
                <c:pt idx="0">
                  <c:v>PROJ_REALISTA_UNIT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Sheet1!$H$2:$H$4</c:f>
              <c:numCache>
                <c:formatCode>_-[$R$-416]\ * #,##0.00_-;\-[$R$-416]\ * #,##0.00_-;_-[$R$-416]\ * "-"??_-;_-@_-</c:formatCode>
                <c:ptCount val="3"/>
                <c:pt idx="0">
                  <c:v>13604.88242236025</c:v>
                </c:pt>
                <c:pt idx="1">
                  <c:v>16905.202499999999</c:v>
                </c:pt>
                <c:pt idx="2">
                  <c:v>9312.9915384615379</c:v>
                </c:pt>
              </c:numCache>
            </c:numRef>
          </c:val>
          <c:extLst>
            <c:ext xmlns:c16="http://schemas.microsoft.com/office/drawing/2014/chart" uri="{C3380CC4-5D6E-409C-BE32-E72D297353CC}">
              <c16:uniqueId val="{00000001-E160-47B8-AFFE-E2CFD45D9EB2}"/>
            </c:ext>
          </c:extLst>
        </c:ser>
        <c:ser>
          <c:idx val="2"/>
          <c:order val="2"/>
          <c:tx>
            <c:strRef>
              <c:f>Sheet1!$I$1</c:f>
              <c:strCache>
                <c:ptCount val="1"/>
                <c:pt idx="0">
                  <c:v>PROJ_AGRESSIVO_UNIT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D61EX-23M0</c:v>
                </c:pt>
                <c:pt idx="1">
                  <c:v>D85EX-15E0</c:v>
                </c:pt>
                <c:pt idx="2">
                  <c:v>PC360LC-8M2</c:v>
                </c:pt>
              </c:strCache>
            </c:strRef>
          </c:cat>
          <c:val>
            <c:numRef>
              <c:f>Sheet1!$I$2:$I$4</c:f>
              <c:numCache>
                <c:formatCode>_-[$R$-416]\ * #,##0.00_-;\-[$R$-416]\ * #,##0.00_-;_-[$R$-416]\ * "-"??_-;_-@_-</c:formatCode>
                <c:ptCount val="3"/>
                <c:pt idx="0">
                  <c:v>18139.843229813661</c:v>
                </c:pt>
                <c:pt idx="1">
                  <c:v>22540.27</c:v>
                </c:pt>
                <c:pt idx="2">
                  <c:v>12417.32205128205</c:v>
                </c:pt>
              </c:numCache>
            </c:numRef>
          </c:val>
          <c:extLst>
            <c:ext xmlns:c16="http://schemas.microsoft.com/office/drawing/2014/chart" uri="{C3380CC4-5D6E-409C-BE32-E72D297353CC}">
              <c16:uniqueId val="{00000002-E160-47B8-AFFE-E2CFD45D9EB2}"/>
            </c:ext>
          </c:extLst>
        </c:ser>
        <c:dLbls>
          <c:showLegendKey val="0"/>
          <c:showVal val="0"/>
          <c:showCatName val="0"/>
          <c:showSerName val="0"/>
          <c:showPercent val="0"/>
          <c:showBubbleSize val="0"/>
        </c:dLbls>
        <c:gapWidth val="100"/>
        <c:overlap val="-27"/>
        <c:axId val="1478651055"/>
        <c:axId val="1958532816"/>
      </c:barChart>
      <c:catAx>
        <c:axId val="14786510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crossAx val="1958532816"/>
        <c:crosses val="autoZero"/>
        <c:auto val="1"/>
        <c:lblAlgn val="ctr"/>
        <c:lblOffset val="100"/>
        <c:noMultiLvlLbl val="0"/>
      </c:catAx>
      <c:valAx>
        <c:axId val="1958532816"/>
        <c:scaling>
          <c:orientation val="minMax"/>
        </c:scaling>
        <c:delete val="1"/>
        <c:axPos val="l"/>
        <c:numFmt formatCode="_-[$R$-416]\ * #,##0.00_-;\-[$R$-416]\ * #,##0.00_-;_-[$R$-416]\ * &quot;-&quot;??_-;_-@_-" sourceLinked="1"/>
        <c:majorTickMark val="none"/>
        <c:minorTickMark val="none"/>
        <c:tickLblPos val="nextTo"/>
        <c:crossAx val="1478651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legend>
    <c:plotVisOnly val="1"/>
    <c:dispBlanksAs val="gap"/>
    <c:showDLblsOverMax val="0"/>
  </c:chart>
  <c:spPr>
    <a:noFill/>
    <a:ln w="9525" cap="flat" cmpd="sng" algn="ctr">
      <a:noFill/>
      <a:round/>
    </a:ln>
    <a:effectLst/>
  </c:spPr>
  <c:txPr>
    <a:bodyPr/>
    <a:lstStyle/>
    <a:p>
      <a:pPr>
        <a:defRPr>
          <a:latin typeface="Arial" panose="020B0604020202020204" pitchFamily="34" charset="0"/>
          <a:cs typeface="Arial" panose="020B0604020202020204" pitchFamily="34"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14393" cy="461963"/>
          </a:xfrm>
          <a:prstGeom prst="rect">
            <a:avLst/>
          </a:prstGeom>
        </p:spPr>
        <p:txBody>
          <a:bodyPr vert="horz" lIns="91440" tIns="45720" rIns="91440" bIns="45720" rtlCol="0"/>
          <a:lstStyle>
            <a:lvl1pPr algn="l">
              <a:defRPr sz="1200">
                <a:latin typeface="Calibri" pitchFamily="34" charset="0"/>
              </a:defRPr>
            </a:lvl1pPr>
          </a:lstStyle>
          <a:p>
            <a:pPr>
              <a:defRPr/>
            </a:pPr>
            <a:endParaRPr lang="en-US"/>
          </a:p>
        </p:txBody>
      </p:sp>
      <p:sp>
        <p:nvSpPr>
          <p:cNvPr id="3" name="Date Placeholder 2"/>
          <p:cNvSpPr>
            <a:spLocks noGrp="1"/>
          </p:cNvSpPr>
          <p:nvPr>
            <p:ph type="dt" sz="quarter" idx="1"/>
          </p:nvPr>
        </p:nvSpPr>
        <p:spPr>
          <a:xfrm>
            <a:off x="3938871" y="1"/>
            <a:ext cx="3014393" cy="461963"/>
          </a:xfrm>
          <a:prstGeom prst="rect">
            <a:avLst/>
          </a:prstGeom>
        </p:spPr>
        <p:txBody>
          <a:bodyPr vert="horz" lIns="91440" tIns="45720" rIns="91440" bIns="45720" rtlCol="0"/>
          <a:lstStyle>
            <a:lvl1pPr algn="r">
              <a:defRPr sz="1200">
                <a:latin typeface="Calibri" pitchFamily="34" charset="0"/>
              </a:defRPr>
            </a:lvl1pPr>
          </a:lstStyle>
          <a:p>
            <a:pPr>
              <a:defRPr/>
            </a:pPr>
            <a:fld id="{D418B1E5-DBF9-4997-A556-B4C23B3A07EC}" type="datetimeFigureOut">
              <a:rPr lang="en-US"/>
              <a:pPr>
                <a:defRPr/>
              </a:pPr>
              <a:t>12/23/2025</a:t>
            </a:fld>
            <a:endParaRPr lang="en-US"/>
          </a:p>
        </p:txBody>
      </p:sp>
      <p:sp>
        <p:nvSpPr>
          <p:cNvPr id="4" name="Footer Placeholder 3"/>
          <p:cNvSpPr>
            <a:spLocks noGrp="1"/>
          </p:cNvSpPr>
          <p:nvPr>
            <p:ph type="ftr" sz="quarter" idx="2"/>
          </p:nvPr>
        </p:nvSpPr>
        <p:spPr>
          <a:xfrm>
            <a:off x="1" y="8772527"/>
            <a:ext cx="3014393" cy="461963"/>
          </a:xfrm>
          <a:prstGeom prst="rect">
            <a:avLst/>
          </a:prstGeom>
        </p:spPr>
        <p:txBody>
          <a:bodyPr vert="horz" lIns="91440" tIns="45720" rIns="91440" bIns="45720" rtlCol="0" anchor="b"/>
          <a:lstStyle>
            <a:lvl1pPr algn="l">
              <a:defRPr sz="1200">
                <a:latin typeface="Calibri" pitchFamily="34" charset="0"/>
              </a:defRPr>
            </a:lvl1pPr>
          </a:lstStyle>
          <a:p>
            <a:pPr>
              <a:defRPr/>
            </a:pPr>
            <a:endParaRPr lang="en-US"/>
          </a:p>
        </p:txBody>
      </p:sp>
      <p:sp>
        <p:nvSpPr>
          <p:cNvPr id="5" name="Slide Number Placeholder 4"/>
          <p:cNvSpPr>
            <a:spLocks noGrp="1"/>
          </p:cNvSpPr>
          <p:nvPr>
            <p:ph type="sldNum" sz="quarter" idx="3"/>
          </p:nvPr>
        </p:nvSpPr>
        <p:spPr>
          <a:xfrm>
            <a:off x="3938871" y="8772527"/>
            <a:ext cx="3014393" cy="461963"/>
          </a:xfrm>
          <a:prstGeom prst="rect">
            <a:avLst/>
          </a:prstGeom>
        </p:spPr>
        <p:txBody>
          <a:bodyPr vert="horz" lIns="91440" tIns="45720" rIns="91440" bIns="45720" rtlCol="0" anchor="b"/>
          <a:lstStyle>
            <a:lvl1pPr algn="r">
              <a:defRPr sz="1200">
                <a:latin typeface="Calibri" pitchFamily="34" charset="0"/>
              </a:defRPr>
            </a:lvl1pPr>
          </a:lstStyle>
          <a:p>
            <a:pPr>
              <a:defRPr/>
            </a:pPr>
            <a:fld id="{C1D487E3-1A14-42D5-A639-D004FC8263A3}" type="slidenum">
              <a:rPr lang="en-US"/>
              <a:pPr>
                <a:defRPr/>
              </a:pPr>
              <a:t>‹nº›</a:t>
            </a:fld>
            <a:endParaRPr lang="en-US"/>
          </a:p>
        </p:txBody>
      </p:sp>
    </p:spTree>
    <p:extLst>
      <p:ext uri="{BB962C8B-B14F-4D97-AF65-F5344CB8AC3E}">
        <p14:creationId xmlns:p14="http://schemas.microsoft.com/office/powerpoint/2010/main" val="17783464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14393" cy="461963"/>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8871" y="1"/>
            <a:ext cx="3014393" cy="461963"/>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a:defRPr/>
            </a:pPr>
            <a:fld id="{CA7E2F7A-968B-4C4F-90B2-BDF9E3E7DFFF}" type="datetimeFigureOut">
              <a:rPr lang="en-US" smtClean="0"/>
              <a:pPr>
                <a:defRPr/>
              </a:pPr>
              <a:t>12/23/2025</a:t>
            </a:fld>
            <a:endParaRPr lang="en-US" dirty="0"/>
          </a:p>
        </p:txBody>
      </p:sp>
      <p:sp>
        <p:nvSpPr>
          <p:cNvPr id="4" name="Slide Image Placeholder 3"/>
          <p:cNvSpPr>
            <a:spLocks noGrp="1" noRot="1" noChangeAspect="1"/>
          </p:cNvSpPr>
          <p:nvPr>
            <p:ph type="sldImg" idx="2"/>
          </p:nvPr>
        </p:nvSpPr>
        <p:spPr>
          <a:xfrm>
            <a:off x="398463" y="692150"/>
            <a:ext cx="6157912" cy="346392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96114" y="4387852"/>
            <a:ext cx="5562611" cy="4156075"/>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772527"/>
            <a:ext cx="3014393" cy="461963"/>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8871" y="8772527"/>
            <a:ext cx="3014393" cy="461963"/>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pPr>
              <a:defRPr/>
            </a:pPr>
            <a:fld id="{4908DE86-5457-4D05-B3D2-48110CD1A2BA}" type="slidenum">
              <a:rPr lang="en-US" smtClean="0"/>
              <a:pPr>
                <a:defRPr/>
              </a:pPr>
              <a:t>‹nº›</a:t>
            </a:fld>
            <a:endParaRPr lang="en-US" dirty="0"/>
          </a:p>
        </p:txBody>
      </p:sp>
    </p:spTree>
    <p:extLst>
      <p:ext uri="{BB962C8B-B14F-4D97-AF65-F5344CB8AC3E}">
        <p14:creationId xmlns:p14="http://schemas.microsoft.com/office/powerpoint/2010/main" val="40409913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520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5040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7920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0800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pPr>
              <a:defRPr/>
            </a:pPr>
            <a:fld id="{4908DE86-5457-4D05-B3D2-48110CD1A2BA}" type="slidenum">
              <a:rPr lang="en-US" smtClean="0"/>
              <a:pPr>
                <a:defRPr/>
              </a:pPr>
              <a:t>3</a:t>
            </a:fld>
            <a:endParaRPr lang="en-US" dirty="0"/>
          </a:p>
        </p:txBody>
      </p:sp>
    </p:spTree>
    <p:extLst>
      <p:ext uri="{BB962C8B-B14F-4D97-AF65-F5344CB8AC3E}">
        <p14:creationId xmlns:p14="http://schemas.microsoft.com/office/powerpoint/2010/main" val="1567157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0F752-5F53-4B79-2682-1E38C20A639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E326BD-BFF8-9857-CB37-B1535E66851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C461B99-4069-1236-A862-C611F2AC0C3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D326262-A7AA-1DC0-67CF-37D71C201236}"/>
              </a:ext>
            </a:extLst>
          </p:cNvPr>
          <p:cNvSpPr>
            <a:spLocks noGrp="1"/>
          </p:cNvSpPr>
          <p:nvPr>
            <p:ph type="sldNum" sz="quarter" idx="5"/>
          </p:nvPr>
        </p:nvSpPr>
        <p:spPr/>
        <p:txBody>
          <a:bodyPr/>
          <a:lstStyle/>
          <a:p>
            <a:pPr>
              <a:defRPr/>
            </a:pPr>
            <a:fld id="{4908DE86-5457-4D05-B3D2-48110CD1A2BA}" type="slidenum">
              <a:rPr lang="en-US" smtClean="0"/>
              <a:pPr>
                <a:defRPr/>
              </a:pPr>
              <a:t>5</a:t>
            </a:fld>
            <a:endParaRPr lang="en-US" dirty="0"/>
          </a:p>
        </p:txBody>
      </p:sp>
    </p:spTree>
    <p:extLst>
      <p:ext uri="{BB962C8B-B14F-4D97-AF65-F5344CB8AC3E}">
        <p14:creationId xmlns:p14="http://schemas.microsoft.com/office/powerpoint/2010/main" val="3512953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pic>
        <p:nvPicPr>
          <p:cNvPr id="8" name="Picture 7" descr="Komatsu logotype">
            <a:extLst>
              <a:ext uri="{FF2B5EF4-FFF2-40B4-BE49-F238E27FC236}">
                <a16:creationId xmlns:a16="http://schemas.microsoft.com/office/drawing/2014/main" id="{9C101E01-27E6-478A-B82C-43D119E115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6645" y="316763"/>
            <a:ext cx="3195767" cy="1037778"/>
          </a:xfrm>
          <a:prstGeom prst="rect">
            <a:avLst/>
          </a:prstGeom>
        </p:spPr>
      </p:pic>
      <p:sp>
        <p:nvSpPr>
          <p:cNvPr id="2" name="Title 1"/>
          <p:cNvSpPr>
            <a:spLocks noGrp="1"/>
          </p:cNvSpPr>
          <p:nvPr>
            <p:ph type="ctrTitle"/>
          </p:nvPr>
        </p:nvSpPr>
        <p:spPr bwMode="black">
          <a:xfrm>
            <a:off x="2329839" y="1813111"/>
            <a:ext cx="6359948" cy="1402230"/>
          </a:xfrm>
        </p:spPr>
        <p:txBody>
          <a:bodyPr anchor="t" anchorCtr="0">
            <a:noAutofit/>
          </a:bodyPr>
          <a:lstStyle>
            <a:lvl1pPr algn="l">
              <a:defRPr sz="3200" b="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329839" y="3215341"/>
            <a:ext cx="6359948" cy="597647"/>
          </a:xfrm>
        </p:spPr>
        <p:txBody>
          <a:bodyPr lIns="0">
            <a:noAutofit/>
          </a:bodyPr>
          <a:lstStyle>
            <a:lvl1pPr marL="0" indent="0" algn="l">
              <a:spcBef>
                <a:spcPts val="0"/>
              </a:spcBef>
              <a:spcAft>
                <a:spcPts val="0"/>
              </a:spcAft>
              <a:buNone/>
              <a:defRPr sz="2400" b="1"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5">
            <a:extLst>
              <a:ext uri="{FF2B5EF4-FFF2-40B4-BE49-F238E27FC236}">
                <a16:creationId xmlns:a16="http://schemas.microsoft.com/office/drawing/2014/main" id="{8724766A-65AA-400C-8EF5-033BEAC2EF68}"/>
              </a:ext>
            </a:extLst>
          </p:cNvPr>
          <p:cNvSpPr>
            <a:spLocks noGrp="1"/>
          </p:cNvSpPr>
          <p:nvPr>
            <p:ph type="body" sz="quarter" idx="10"/>
          </p:nvPr>
        </p:nvSpPr>
        <p:spPr>
          <a:xfrm>
            <a:off x="2329839" y="3813175"/>
            <a:ext cx="3248946" cy="596900"/>
          </a:xfrm>
        </p:spPr>
        <p:txBody>
          <a:bodyPr lIns="36000"/>
          <a:lstStyle>
            <a:lvl1pPr marL="0" indent="0">
              <a:spcBef>
                <a:spcPts val="0"/>
              </a:spcBef>
              <a:buFont typeface="Arial" panose="020B0604020202020204" pitchFamily="34" charset="0"/>
              <a:buNone/>
              <a:defRPr sz="1200" b="1">
                <a:solidFill>
                  <a:schemeClr val="tx1"/>
                </a:solidFill>
              </a:defRPr>
            </a:lvl1pPr>
            <a:lvl2pPr marL="0" indent="0">
              <a:buFont typeface="Arial" panose="020B0604020202020204" pitchFamily="34" charset="0"/>
              <a:buNone/>
              <a:defRPr sz="1200" b="1">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95048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9CBAC0A-55B6-4BBD-9C8A-0312FD200BA5}"/>
              </a:ext>
            </a:extLst>
          </p:cNvPr>
          <p:cNvSpPr>
            <a:spLocks noGrp="1"/>
          </p:cNvSpPr>
          <p:nvPr>
            <p:ph type="body" sz="quarter" idx="10"/>
          </p:nvPr>
        </p:nvSpPr>
        <p:spPr>
          <a:xfrm>
            <a:off x="365760" y="751562"/>
            <a:ext cx="8412480" cy="1820188"/>
          </a:xfrm>
        </p:spPr>
        <p:txBody>
          <a:bodyPr anchor="b" anchorCtr="0">
            <a:noAutofit/>
          </a:bodyPr>
          <a:lstStyle>
            <a:lvl1pPr marL="0" indent="0" algn="ctr">
              <a:buNone/>
              <a:defRPr sz="2800" b="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279D6834-D149-40C7-98C4-9694CB8C3AA3}"/>
              </a:ext>
            </a:extLst>
          </p:cNvPr>
          <p:cNvSpPr>
            <a:spLocks noGrp="1"/>
          </p:cNvSpPr>
          <p:nvPr>
            <p:ph type="body" sz="quarter" idx="11"/>
          </p:nvPr>
        </p:nvSpPr>
        <p:spPr>
          <a:xfrm>
            <a:off x="365760" y="2788608"/>
            <a:ext cx="8412480" cy="1545267"/>
          </a:xfrm>
        </p:spPr>
        <p:txBody>
          <a:bodyPr>
            <a:noAutofit/>
          </a:bodyPr>
          <a:lstStyle>
            <a:lvl1pPr marL="0" indent="0" algn="ctr">
              <a:buNone/>
              <a:defRPr sz="18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785946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cture onl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8AD1B8-CB73-411B-976B-DD79AAFE1599}"/>
              </a:ext>
            </a:extLst>
          </p:cNvPr>
          <p:cNvSpPr/>
          <p:nvPr/>
        </p:nvSpPr>
        <p:spPr>
          <a:xfrm>
            <a:off x="1" y="-1"/>
            <a:ext cx="9144000" cy="702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31338F0F-F1E2-452D-B5E1-6CBC1D5B1DBA}"/>
              </a:ext>
            </a:extLst>
          </p:cNvPr>
          <p:cNvSpPr>
            <a:spLocks noGrp="1"/>
          </p:cNvSpPr>
          <p:nvPr>
            <p:ph type="pic" sz="quarter" idx="10"/>
          </p:nvPr>
        </p:nvSpPr>
        <p:spPr>
          <a:xfrm>
            <a:off x="0" y="-1"/>
            <a:ext cx="9144000" cy="4764505"/>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9764964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1969252-BDAE-4630-A1E8-28EA88D515E5}"/>
              </a:ext>
            </a:extLst>
          </p:cNvPr>
          <p:cNvCxnSpPr>
            <a:cxnSpLocks/>
          </p:cNvCxnSpPr>
          <p:nvPr/>
        </p:nvCxnSpPr>
        <p:spPr bwMode="black">
          <a:xfrm>
            <a:off x="0" y="540000"/>
            <a:ext cx="914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000BFE82-E70E-4C1C-B239-7825DC4EB633}"/>
              </a:ext>
            </a:extLst>
          </p:cNvPr>
          <p:cNvSpPr/>
          <p:nvPr userDrawn="1"/>
        </p:nvSpPr>
        <p:spPr bwMode="white">
          <a:xfrm>
            <a:off x="0" y="0"/>
            <a:ext cx="9144000" cy="54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black">
          <a:xfrm>
            <a:off x="191967" y="107797"/>
            <a:ext cx="8747496" cy="410645"/>
          </a:xfrm>
          <a:prstGeom prst="rect">
            <a:avLst/>
          </a:prstGeom>
        </p:spPr>
        <p:txBody>
          <a:bodyPr vert="horz" lIns="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91967" y="648000"/>
            <a:ext cx="8747496" cy="4104000"/>
          </a:xfrm>
          <a:prstGeom prst="rect">
            <a:avLst/>
          </a:prstGeom>
        </p:spPr>
        <p:txBody>
          <a:bodyPr vert="horz" lIns="45720" tIns="73152"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p>
        </p:txBody>
      </p:sp>
      <p:sp>
        <p:nvSpPr>
          <p:cNvPr id="5" name="TextBox 4">
            <a:extLst>
              <a:ext uri="{FF2B5EF4-FFF2-40B4-BE49-F238E27FC236}">
                <a16:creationId xmlns:a16="http://schemas.microsoft.com/office/drawing/2014/main" id="{08C2FB9A-9000-4AD5-822F-38482757BEA7}"/>
              </a:ext>
            </a:extLst>
          </p:cNvPr>
          <p:cNvSpPr txBox="1"/>
          <p:nvPr userDrawn="1"/>
        </p:nvSpPr>
        <p:spPr>
          <a:xfrm>
            <a:off x="8392885" y="4853360"/>
            <a:ext cx="546577" cy="246221"/>
          </a:xfrm>
          <a:prstGeom prst="rect">
            <a:avLst/>
          </a:prstGeom>
          <a:noFill/>
        </p:spPr>
        <p:txBody>
          <a:bodyPr wrap="square" lIns="0" rIns="0" rtlCol="0">
            <a:spAutoFit/>
          </a:bodyPr>
          <a:lstStyle/>
          <a:p>
            <a:pPr algn="r"/>
            <a:fld id="{8EB92688-8440-4905-ACA0-EACBFA8A49E6}" type="slidenum">
              <a:rPr lang="en-US" sz="1000" smtClean="0">
                <a:solidFill>
                  <a:schemeClr val="tx2"/>
                </a:solidFill>
                <a:latin typeface="+mn-lt"/>
              </a:rPr>
              <a:t>‹nº›</a:t>
            </a:fld>
            <a:endParaRPr lang="en-US" sz="1000" dirty="0">
              <a:solidFill>
                <a:schemeClr val="tx2"/>
              </a:solidFill>
              <a:latin typeface="+mn-lt"/>
            </a:endParaRPr>
          </a:p>
        </p:txBody>
      </p:sp>
      <p:sp>
        <p:nvSpPr>
          <p:cNvPr id="11" name="TextBox 10">
            <a:extLst>
              <a:ext uri="{FF2B5EF4-FFF2-40B4-BE49-F238E27FC236}">
                <a16:creationId xmlns:a16="http://schemas.microsoft.com/office/drawing/2014/main" id="{FE3C0B7C-648B-4F1E-B40B-5AE0E9FBF7CE}"/>
              </a:ext>
            </a:extLst>
          </p:cNvPr>
          <p:cNvSpPr txBox="1"/>
          <p:nvPr/>
        </p:nvSpPr>
        <p:spPr>
          <a:xfrm>
            <a:off x="4367284" y="4855055"/>
            <a:ext cx="4155743" cy="246221"/>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lang="en-US" sz="1000" dirty="0">
                <a:solidFill>
                  <a:srgbClr val="140A9A"/>
                </a:solidFill>
                <a:latin typeface="Arial"/>
                <a:ea typeface="Calibri"/>
                <a:cs typeface="Arial"/>
              </a:rPr>
              <a:t>Bom Futuro Komatsu Fleet Support Program </a:t>
            </a:r>
            <a:endParaRPr lang="en-US" sz="1000" dirty="0">
              <a:solidFill>
                <a:schemeClr val="tx2"/>
              </a:solidFill>
              <a:latin typeface="+mn-lt"/>
            </a:endParaRPr>
          </a:p>
        </p:txBody>
      </p:sp>
      <p:pic>
        <p:nvPicPr>
          <p:cNvPr id="8" name="Picture 7" descr="Komatsu logotype">
            <a:extLst>
              <a:ext uri="{FF2B5EF4-FFF2-40B4-BE49-F238E27FC236}">
                <a16:creationId xmlns:a16="http://schemas.microsoft.com/office/drawing/2014/main" id="{ECB1186D-336A-43AD-95E0-0593B7D7D76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2381" y="4784202"/>
            <a:ext cx="1118070" cy="364473"/>
          </a:xfrm>
          <a:prstGeom prst="rect">
            <a:avLst/>
          </a:prstGeom>
        </p:spPr>
      </p:pic>
    </p:spTree>
    <p:extLst>
      <p:ext uri="{BB962C8B-B14F-4D97-AF65-F5344CB8AC3E}">
        <p14:creationId xmlns:p14="http://schemas.microsoft.com/office/powerpoint/2010/main" val="872783265"/>
      </p:ext>
    </p:extLst>
  </p:cSld>
  <p:clrMap bg1="lt1" tx1="dk1" bg2="lt2" tx2="dk2" accent1="accent1" accent2="accent2" accent3="accent3" accent4="accent4" accent5="accent5" accent6="accent6" hlink="hlink" folHlink="folHlink"/>
  <p:sldLayoutIdLst>
    <p:sldLayoutId id="2147496151" r:id="rId1"/>
    <p:sldLayoutId id="2147496154" r:id="rId2"/>
    <p:sldLayoutId id="2147496159" r:id="rId3"/>
  </p:sldLayoutIdLst>
  <p:hf sldNum="0" hdr="0" ftr="0" dt="0"/>
  <p:txStyles>
    <p:title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p:titleStyle>
    <p:body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0D16-3DF1-434E-9119-D3187BDADE14}"/>
              </a:ext>
            </a:extLst>
          </p:cNvPr>
          <p:cNvSpPr>
            <a:spLocks noGrp="1"/>
          </p:cNvSpPr>
          <p:nvPr>
            <p:ph type="ctrTitle"/>
          </p:nvPr>
        </p:nvSpPr>
        <p:spPr>
          <a:xfrm>
            <a:off x="1360967" y="1813111"/>
            <a:ext cx="7328820" cy="1402230"/>
          </a:xfrm>
        </p:spPr>
        <p:txBody>
          <a:bodyPr/>
          <a:lstStyle/>
          <a:p>
            <a:r>
              <a:rPr dirty="0"/>
              <a:t>Bom Futuro Komatsu Fleet Support Program </a:t>
            </a:r>
          </a:p>
        </p:txBody>
      </p:sp>
      <p:sp>
        <p:nvSpPr>
          <p:cNvPr id="3" name="Subtitle 2">
            <a:extLst>
              <a:ext uri="{FF2B5EF4-FFF2-40B4-BE49-F238E27FC236}">
                <a16:creationId xmlns:a16="http://schemas.microsoft.com/office/drawing/2014/main" id="{912228A3-CD2D-418C-B995-31BAB9F89FBB}"/>
              </a:ext>
            </a:extLst>
          </p:cNvPr>
          <p:cNvSpPr>
            <a:spLocks noGrp="1"/>
          </p:cNvSpPr>
          <p:nvPr>
            <p:ph type="subTitle" idx="1"/>
          </p:nvPr>
        </p:nvSpPr>
        <p:spPr>
          <a:xfrm>
            <a:off x="1360967" y="2770341"/>
            <a:ext cx="7054490" cy="894134"/>
          </a:xfrm>
        </p:spPr>
        <p:txBody>
          <a:bodyPr/>
          <a:lstStyle/>
          <a:p>
            <a:r>
              <a:t>MMK+ Komatsu Mais + Komtrax 10 anos +</a:t>
            </a:r>
          </a:p>
          <a:p>
            <a:r>
              <a:t>– Projeto Bom Futuro</a:t>
            </a:r>
          </a:p>
        </p:txBody>
      </p:sp>
      <p:sp>
        <p:nvSpPr>
          <p:cNvPr id="4" name="Text Placeholder 3">
            <a:extLst>
              <a:ext uri="{FF2B5EF4-FFF2-40B4-BE49-F238E27FC236}">
                <a16:creationId xmlns:a16="http://schemas.microsoft.com/office/drawing/2014/main" id="{51DB200E-45BD-40C7-B411-2F8A9F852F51}"/>
              </a:ext>
            </a:extLst>
          </p:cNvPr>
          <p:cNvSpPr>
            <a:spLocks noGrp="1"/>
          </p:cNvSpPr>
          <p:nvPr>
            <p:ph type="body" sz="quarter" idx="10"/>
          </p:nvPr>
        </p:nvSpPr>
        <p:spPr>
          <a:xfrm>
            <a:off x="1360967" y="3806087"/>
            <a:ext cx="3248946" cy="596900"/>
          </a:xfrm>
        </p:spPr>
        <p:txBody>
          <a:bodyPr/>
          <a:lstStyle/>
          <a:p>
            <a:r>
              <a:t>Fernando Coradi</a:t>
            </a:r>
          </a:p>
          <a:p>
            <a:r>
              <a:t>Dez/2025</a:t>
            </a:r>
          </a:p>
        </p:txBody>
      </p:sp>
    </p:spTree>
    <p:extLst>
      <p:ext uri="{BB962C8B-B14F-4D97-AF65-F5344CB8AC3E}">
        <p14:creationId xmlns:p14="http://schemas.microsoft.com/office/powerpoint/2010/main" val="422575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0D3F6-CD10-7533-CBE9-FE733CFAE88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BCC0B0E-3D76-8A4F-AD10-7783F03556D6}"/>
              </a:ext>
            </a:extLst>
          </p:cNvPr>
          <p:cNvSpPr>
            <a:spLocks noGrp="1"/>
          </p:cNvSpPr>
          <p:nvPr>
            <p:ph type="body" sz="quarter" idx="10"/>
          </p:nvPr>
        </p:nvSpPr>
        <p:spPr>
          <a:xfrm>
            <a:off x="14622" y="942110"/>
            <a:ext cx="4104000" cy="298784"/>
          </a:xfrm>
        </p:spPr>
        <p:txBody>
          <a:bodyPr vert="horz" lIns="45720" tIns="73152" rIns="45720" bIns="45720" rtlCol="0" anchor="b" anchorCtr="0">
            <a:noAutofit/>
          </a:bodyPr>
          <a:lstStyle/>
          <a:p>
            <a:pPr algn="l"/>
            <a:r>
              <a:rPr lang="pt-BR" sz="1600" dirty="0"/>
              <a:t>1. </a:t>
            </a:r>
            <a:r>
              <a:rPr sz="1600" dirty="0"/>
              <a:t>Context and Goals</a:t>
            </a:r>
          </a:p>
        </p:txBody>
      </p:sp>
      <p:sp>
        <p:nvSpPr>
          <p:cNvPr id="3" name="Text Placeholder 2">
            <a:extLst>
              <a:ext uri="{FF2B5EF4-FFF2-40B4-BE49-F238E27FC236}">
                <a16:creationId xmlns:a16="http://schemas.microsoft.com/office/drawing/2014/main" id="{F3F76C50-615C-5936-93F7-86DC841D5D93}"/>
              </a:ext>
            </a:extLst>
          </p:cNvPr>
          <p:cNvSpPr>
            <a:spLocks noGrp="1"/>
          </p:cNvSpPr>
          <p:nvPr>
            <p:ph type="body" sz="quarter" idx="11"/>
          </p:nvPr>
        </p:nvSpPr>
        <p:spPr>
          <a:xfrm>
            <a:off x="14287" y="1122515"/>
            <a:ext cx="4908347" cy="795343"/>
          </a:xfrm>
        </p:spPr>
        <p:txBody>
          <a:bodyPr/>
          <a:lstStyle/>
          <a:p>
            <a:pPr algn="l">
              <a:spcBef>
                <a:spcPts val="0"/>
              </a:spcBef>
            </a:pPr>
            <a:r>
              <a:rPr sz="900" dirty="0">
                <a:latin typeface="+mj-lt"/>
              </a:rPr>
              <a:t>Scope: Bom Futuro fleet (models, volumes, production mission).</a:t>
            </a:r>
          </a:p>
          <a:p>
            <a:pPr algn="l">
              <a:spcBef>
                <a:spcPts val="0"/>
              </a:spcBef>
            </a:pPr>
            <a:r>
              <a:rPr sz="900" dirty="0">
                <a:latin typeface="+mj-lt"/>
              </a:rPr>
              <a:t>Performance Goals: </a:t>
            </a:r>
          </a:p>
          <a:p>
            <a:pPr marL="171450" indent="-171450" algn="l">
              <a:spcBef>
                <a:spcPts val="0"/>
              </a:spcBef>
              <a:buFont typeface="Arial" panose="020B0604020202020204" pitchFamily="34" charset="0"/>
              <a:buChar char="•"/>
            </a:pPr>
            <a:r>
              <a:rPr sz="900" dirty="0">
                <a:latin typeface="+mj-lt"/>
              </a:rPr>
              <a:t>Delta 5 years / 10,000 h</a:t>
            </a:r>
          </a:p>
          <a:p>
            <a:pPr marL="171450" indent="-171450" algn="l">
              <a:spcBef>
                <a:spcPts val="0"/>
              </a:spcBef>
              <a:buFont typeface="Arial" panose="020B0604020202020204" pitchFamily="34" charset="0"/>
              <a:buChar char="•"/>
            </a:pPr>
            <a:r>
              <a:rPr sz="900" dirty="0">
                <a:latin typeface="+mj-lt"/>
              </a:rPr>
              <a:t>Delta 10 years / 10,000 h </a:t>
            </a:r>
            <a:endParaRPr lang="pt-BR" sz="900" dirty="0">
              <a:latin typeface="+mj-lt"/>
            </a:endParaRPr>
          </a:p>
          <a:p>
            <a:pPr algn="l">
              <a:spcBef>
                <a:spcPts val="0"/>
              </a:spcBef>
            </a:pPr>
            <a:r>
              <a:rPr sz="900" dirty="0">
                <a:latin typeface="+mj-lt"/>
              </a:rPr>
              <a:t>KPIs: Availability, MTBF, MTTR, Cost/hour, Fuel consumption, Unscheduled events.</a:t>
            </a:r>
          </a:p>
        </p:txBody>
      </p:sp>
      <p:sp>
        <p:nvSpPr>
          <p:cNvPr id="8" name="CaixaDeTexto 7">
            <a:extLst>
              <a:ext uri="{FF2B5EF4-FFF2-40B4-BE49-F238E27FC236}">
                <a16:creationId xmlns:a16="http://schemas.microsoft.com/office/drawing/2014/main" id="{F09E293D-740E-CAD4-9BF9-2D923667DC25}"/>
              </a:ext>
            </a:extLst>
          </p:cNvPr>
          <p:cNvSpPr txBox="1"/>
          <p:nvPr/>
        </p:nvSpPr>
        <p:spPr>
          <a:xfrm>
            <a:off x="-12425" y="4077"/>
            <a:ext cx="6780654" cy="523220"/>
          </a:xfrm>
          <a:prstGeom prst="rect">
            <a:avLst/>
          </a:prstGeom>
          <a:noFill/>
        </p:spPr>
        <p:txBody>
          <a:bodyPr wrap="square">
            <a:spAutoFit/>
          </a:bodyPr>
          <a:lstStyle/>
          <a:p>
            <a:r>
              <a:rPr sz="2800" dirty="0">
                <a:solidFill>
                  <a:schemeClr val="bg1"/>
                </a:solidFill>
              </a:rPr>
              <a:t>Status Komatsu Overview</a:t>
            </a:r>
          </a:p>
        </p:txBody>
      </p:sp>
      <p:cxnSp>
        <p:nvCxnSpPr>
          <p:cNvPr id="11" name="Conector reto 10">
            <a:extLst>
              <a:ext uri="{FF2B5EF4-FFF2-40B4-BE49-F238E27FC236}">
                <a16:creationId xmlns:a16="http://schemas.microsoft.com/office/drawing/2014/main" id="{38E944FD-9ABD-1CD2-6070-E250CAAF7FE0}"/>
              </a:ext>
            </a:extLst>
          </p:cNvPr>
          <p:cNvCxnSpPr>
            <a:cxnSpLocks/>
          </p:cNvCxnSpPr>
          <p:nvPr/>
        </p:nvCxnSpPr>
        <p:spPr>
          <a:xfrm flipH="1">
            <a:off x="0" y="2311908"/>
            <a:ext cx="506488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 Placeholder 1">
            <a:extLst>
              <a:ext uri="{FF2B5EF4-FFF2-40B4-BE49-F238E27FC236}">
                <a16:creationId xmlns:a16="http://schemas.microsoft.com/office/drawing/2014/main" id="{591EF5B5-64CD-23A9-7F17-2475FBE48D6E}"/>
              </a:ext>
            </a:extLst>
          </p:cNvPr>
          <p:cNvSpPr txBox="1">
            <a:spLocks/>
          </p:cNvSpPr>
          <p:nvPr/>
        </p:nvSpPr>
        <p:spPr>
          <a:xfrm>
            <a:off x="5068568" y="917980"/>
            <a:ext cx="3776401" cy="298784"/>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pt-BR" sz="1600" dirty="0"/>
              <a:t>2. </a:t>
            </a:r>
            <a:r>
              <a:rPr sz="1600" dirty="0"/>
              <a:t>Definition of the Delta</a:t>
            </a:r>
          </a:p>
        </p:txBody>
      </p:sp>
      <p:sp>
        <p:nvSpPr>
          <p:cNvPr id="17" name="Text Placeholder 2">
            <a:extLst>
              <a:ext uri="{FF2B5EF4-FFF2-40B4-BE49-F238E27FC236}">
                <a16:creationId xmlns:a16="http://schemas.microsoft.com/office/drawing/2014/main" id="{92A0D94C-279F-1732-E9EE-1EFF0CFEADED}"/>
              </a:ext>
            </a:extLst>
          </p:cNvPr>
          <p:cNvSpPr txBox="1">
            <a:spLocks/>
          </p:cNvSpPr>
          <p:nvPr/>
        </p:nvSpPr>
        <p:spPr>
          <a:xfrm>
            <a:off x="5064881" y="1150554"/>
            <a:ext cx="4043598" cy="1554724"/>
          </a:xfrm>
          <a:prstGeom prst="rect">
            <a:avLst/>
          </a:prstGeom>
        </p:spPr>
        <p:txBody>
          <a:bodyPr vert="horz" lIns="45720" tIns="73152" rIns="45720" bIns="45720" rtlCol="0">
            <a:noAutofit/>
          </a:bodyPr>
          <a:lstStyle>
            <a:lvl1pPr marL="171450" indent="-171450" defTabSz="90000" eaLnBrk="1" latinLnBrk="0" hangingPunct="1">
              <a:lnSpc>
                <a:spcPct val="100000"/>
              </a:lnSpc>
              <a:spcBef>
                <a:spcPts val="1000"/>
              </a:spcBef>
              <a:spcAft>
                <a:spcPts val="0"/>
              </a:spcAft>
              <a:buClrTx/>
              <a:buSzPct val="95000"/>
              <a:buFont typeface="Courier New" panose="02070309020205020404" pitchFamily="49" charset="0"/>
              <a:buChar char="o"/>
              <a:tabLst>
                <a:tab pos="179388" algn="l"/>
              </a:tabLst>
              <a:defRPr sz="1100" b="0">
                <a:latin typeface="+mn-lt"/>
              </a:defRPr>
            </a:lvl1pPr>
            <a:lvl2pPr marL="360000" indent="-180000" defTabSz="90000" eaLnBrk="1" latinLnBrk="0" hangingPunct="1">
              <a:lnSpc>
                <a:spcPct val="90000"/>
              </a:lnSpc>
              <a:spcBef>
                <a:spcPts val="500"/>
              </a:spcBef>
              <a:spcAft>
                <a:spcPts val="0"/>
              </a:spcAft>
              <a:buSzPct val="100000"/>
              <a:buFont typeface="Calibri" panose="020F0502020204030204" pitchFamily="34" charset="0"/>
              <a:buChar char="○"/>
              <a:defRPr sz="1200">
                <a:latin typeface="+mn-lt"/>
              </a:defRPr>
            </a:lvl2pPr>
            <a:lvl3pPr marL="504000" indent="-144000" defTabSz="90000" eaLnBrk="1" latinLnBrk="0" hangingPunct="1">
              <a:lnSpc>
                <a:spcPct val="90000"/>
              </a:lnSpc>
              <a:spcBef>
                <a:spcPts val="500"/>
              </a:spcBef>
              <a:spcAft>
                <a:spcPts val="0"/>
              </a:spcAft>
              <a:buSzPct val="100000"/>
              <a:buFont typeface="Wingdings" panose="05000000000000000000" pitchFamily="2" charset="2"/>
              <a:buChar char="§"/>
              <a:defRPr sz="1100">
                <a:latin typeface="+mn-lt"/>
              </a:defRPr>
            </a:lvl3pPr>
            <a:lvl4pPr marL="684000" indent="-144000" defTabSz="90000" eaLnBrk="1" latinLnBrk="0" hangingPunct="1">
              <a:lnSpc>
                <a:spcPct val="90000"/>
              </a:lnSpc>
              <a:spcBef>
                <a:spcPts val="500"/>
              </a:spcBef>
              <a:spcAft>
                <a:spcPts val="0"/>
              </a:spcAft>
              <a:buSzPct val="100000"/>
              <a:buFont typeface="Arial" panose="020B0604020202020204" pitchFamily="34" charset="0"/>
              <a:buChar char="›"/>
              <a:defRPr sz="1000">
                <a:latin typeface="+mn-lt"/>
              </a:defRPr>
            </a:lvl4pPr>
            <a:lvl5pPr marL="792000" indent="-108000" defTabSz="90000" eaLnBrk="1" latinLnBrk="0" hangingPunct="1">
              <a:lnSpc>
                <a:spcPct val="90000"/>
              </a:lnSpc>
              <a:spcBef>
                <a:spcPts val="500"/>
              </a:spcBef>
              <a:buFont typeface="Arial" panose="020B0604020202020204" pitchFamily="34" charset="0"/>
              <a:buChar char="–"/>
              <a:defRPr sz="9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marL="0" indent="0">
              <a:spcBef>
                <a:spcPts val="0"/>
              </a:spcBef>
              <a:buNone/>
            </a:pPr>
            <a:r>
              <a:rPr lang="en-US" sz="900" b="1" dirty="0">
                <a:latin typeface="+mj-lt"/>
              </a:rPr>
              <a:t>Adjusted Topic + Calculation Methodology:</a:t>
            </a:r>
          </a:p>
          <a:p>
            <a:pPr marL="0" indent="0">
              <a:spcBef>
                <a:spcPts val="0"/>
              </a:spcBef>
              <a:buNone/>
            </a:pPr>
            <a:r>
              <a:rPr lang="en-US" sz="900" dirty="0">
                <a:latin typeface="+mj-lt"/>
              </a:rPr>
              <a:t>Below is the methodology used to calculate the DELTA between 0–5,000 hours (actual cost) and 5,000–10,000 hours (projected cost), based on three failure‑rate scenarios:</a:t>
            </a:r>
          </a:p>
          <a:p>
            <a:pPr>
              <a:spcBef>
                <a:spcPts val="0"/>
              </a:spcBef>
            </a:pPr>
            <a:r>
              <a:rPr lang="en-US" sz="900" dirty="0">
                <a:latin typeface="+mj-lt"/>
              </a:rPr>
              <a:t>Conservative: projection based on historical trend with a 10% increase in failure rate after 5,000 h.</a:t>
            </a:r>
          </a:p>
          <a:p>
            <a:pPr>
              <a:spcBef>
                <a:spcPts val="0"/>
              </a:spcBef>
            </a:pPr>
            <a:r>
              <a:rPr lang="en-US" sz="900" dirty="0">
                <a:latin typeface="+mj-lt"/>
              </a:rPr>
              <a:t>Realistic: projection assuming a 50% increase in failure rate after 5,000 h.</a:t>
            </a:r>
          </a:p>
          <a:p>
            <a:pPr>
              <a:spcBef>
                <a:spcPts val="0"/>
              </a:spcBef>
            </a:pPr>
            <a:r>
              <a:rPr lang="en-US" sz="900" dirty="0">
                <a:latin typeface="+mj-lt"/>
              </a:rPr>
              <a:t>Aggressive: projection assuming a 100% increase (2×) in failure rate after 5,000 h, aligned with the stress‑scenario modeling.</a:t>
            </a:r>
            <a:endParaRPr sz="900" dirty="0">
              <a:latin typeface="+mj-lt"/>
            </a:endParaRPr>
          </a:p>
        </p:txBody>
      </p:sp>
      <p:sp>
        <p:nvSpPr>
          <p:cNvPr id="23" name="Text Placeholder 1">
            <a:extLst>
              <a:ext uri="{FF2B5EF4-FFF2-40B4-BE49-F238E27FC236}">
                <a16:creationId xmlns:a16="http://schemas.microsoft.com/office/drawing/2014/main" id="{5BF5169A-5E3F-3911-6960-7FE4ECF53A11}"/>
              </a:ext>
            </a:extLst>
          </p:cNvPr>
          <p:cNvSpPr txBox="1">
            <a:spLocks/>
          </p:cNvSpPr>
          <p:nvPr/>
        </p:nvSpPr>
        <p:spPr>
          <a:xfrm>
            <a:off x="0" y="490021"/>
            <a:ext cx="9144000" cy="461665"/>
          </a:xfrm>
          <a:prstGeom prst="rect">
            <a:avLst/>
          </a:prstGeom>
          <a:solidFill>
            <a:schemeClr val="accent2">
              <a:lumMod val="40000"/>
              <a:lumOff val="60000"/>
            </a:schemeClr>
          </a:solidFill>
        </p:spPr>
        <p:txBody>
          <a:bodyPr wrap="square" rtlCol="0">
            <a:spAutoFit/>
          </a:bodyPr>
          <a:lstStyle>
            <a:defPPr>
              <a:defRPr lang="en-US"/>
            </a:defPPr>
            <a:lvl1pPr defTabSz="90000">
              <a:buSzPct val="95000"/>
              <a:defRPr sz="1200">
                <a:latin typeface="+mj-lt"/>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Summary of the current fleet condition, performance trends, and service alignment between Komatsu and Bom Futuro.</a:t>
            </a:r>
          </a:p>
          <a:p>
            <a:r>
              <a:rPr lang="en-US" dirty="0"/>
              <a:t>Identification of gaps (“Delta”) and strategic actions required to achieve long‑term reliability and cost targets.</a:t>
            </a:r>
          </a:p>
        </p:txBody>
      </p:sp>
      <p:sp>
        <p:nvSpPr>
          <p:cNvPr id="26" name="Text Placeholder 2">
            <a:extLst>
              <a:ext uri="{FF2B5EF4-FFF2-40B4-BE49-F238E27FC236}">
                <a16:creationId xmlns:a16="http://schemas.microsoft.com/office/drawing/2014/main" id="{AB7A42D6-A96D-12A0-0306-CB9921F86CE0}"/>
              </a:ext>
            </a:extLst>
          </p:cNvPr>
          <p:cNvSpPr txBox="1">
            <a:spLocks/>
          </p:cNvSpPr>
          <p:nvPr/>
        </p:nvSpPr>
        <p:spPr>
          <a:xfrm>
            <a:off x="17908" y="1863823"/>
            <a:ext cx="4950664" cy="461662"/>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050" b="1" i="1" dirty="0">
                <a:solidFill>
                  <a:schemeClr val="accent3">
                    <a:lumMod val="50000"/>
                  </a:schemeClr>
                </a:solidFill>
              </a:rPr>
              <a:t>Important: </a:t>
            </a:r>
            <a:r>
              <a:rPr lang="en-US" sz="1050" dirty="0">
                <a:solidFill>
                  <a:schemeClr val="accent3">
                    <a:lumMod val="50000"/>
                  </a:schemeClr>
                </a:solidFill>
              </a:rPr>
              <a:t>Machines with SMR equal to or below 250 hours are not included in this proposal.</a:t>
            </a:r>
            <a:endParaRPr sz="1050" dirty="0">
              <a:solidFill>
                <a:schemeClr val="accent3">
                  <a:lumMod val="50000"/>
                </a:schemeClr>
              </a:solidFill>
            </a:endParaRPr>
          </a:p>
        </p:txBody>
      </p:sp>
      <p:sp>
        <p:nvSpPr>
          <p:cNvPr id="27" name="Text Placeholder 1">
            <a:extLst>
              <a:ext uri="{FF2B5EF4-FFF2-40B4-BE49-F238E27FC236}">
                <a16:creationId xmlns:a16="http://schemas.microsoft.com/office/drawing/2014/main" id="{2F351222-8A59-8F29-A00D-BB2105FBB491}"/>
              </a:ext>
            </a:extLst>
          </p:cNvPr>
          <p:cNvSpPr txBox="1">
            <a:spLocks/>
          </p:cNvSpPr>
          <p:nvPr/>
        </p:nvSpPr>
        <p:spPr>
          <a:xfrm>
            <a:off x="0" y="2265245"/>
            <a:ext cx="4200740" cy="370221"/>
          </a:xfrm>
          <a:prstGeom prst="rect">
            <a:avLst/>
          </a:prstGeom>
        </p:spPr>
        <p:txBody>
          <a:bodyPr vert="horz" lIns="45720" tIns="73152" rIns="45720" bIns="45720" rtlCol="0" anchor="b" anchorCtr="0">
            <a:noAutofit/>
          </a:bodyPr>
          <a:lstStyle>
            <a:defPPr>
              <a:defRPr lang="en-US"/>
            </a:defPPr>
            <a:lvl1pPr marL="0" indent="0" defTabSz="9000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a:solidFill>
                  <a:schemeClr val="tx2"/>
                </a:solidFill>
                <a:latin typeface="+mn-lt"/>
              </a:defRPr>
            </a:lvl1pPr>
            <a:lvl2pPr marL="360000" indent="-180000" defTabSz="90000" eaLnBrk="1" latinLnBrk="0" hangingPunct="1">
              <a:lnSpc>
                <a:spcPct val="90000"/>
              </a:lnSpc>
              <a:spcBef>
                <a:spcPts val="500"/>
              </a:spcBef>
              <a:spcAft>
                <a:spcPts val="0"/>
              </a:spcAft>
              <a:buSzPct val="100000"/>
              <a:buFont typeface="Calibri" panose="020F0502020204030204" pitchFamily="34" charset="0"/>
              <a:buChar char="○"/>
              <a:defRPr sz="1200">
                <a:latin typeface="+mn-lt"/>
              </a:defRPr>
            </a:lvl2pPr>
            <a:lvl3pPr marL="504000" indent="-144000" defTabSz="90000" eaLnBrk="1" latinLnBrk="0" hangingPunct="1">
              <a:lnSpc>
                <a:spcPct val="90000"/>
              </a:lnSpc>
              <a:spcBef>
                <a:spcPts val="500"/>
              </a:spcBef>
              <a:spcAft>
                <a:spcPts val="0"/>
              </a:spcAft>
              <a:buSzPct val="100000"/>
              <a:buFont typeface="Wingdings" panose="05000000000000000000" pitchFamily="2" charset="2"/>
              <a:buChar char="§"/>
              <a:defRPr sz="1100">
                <a:latin typeface="+mn-lt"/>
              </a:defRPr>
            </a:lvl3pPr>
            <a:lvl4pPr marL="684000" indent="-144000" defTabSz="90000" eaLnBrk="1" latinLnBrk="0" hangingPunct="1">
              <a:lnSpc>
                <a:spcPct val="90000"/>
              </a:lnSpc>
              <a:spcBef>
                <a:spcPts val="500"/>
              </a:spcBef>
              <a:spcAft>
                <a:spcPts val="0"/>
              </a:spcAft>
              <a:buSzPct val="100000"/>
              <a:buFont typeface="Arial" panose="020B0604020202020204" pitchFamily="34" charset="0"/>
              <a:buChar char="›"/>
              <a:defRPr sz="1000">
                <a:latin typeface="+mn-lt"/>
              </a:defRPr>
            </a:lvl4pPr>
            <a:lvl5pPr marL="792000" indent="-108000" defTabSz="90000" eaLnBrk="1" latinLnBrk="0" hangingPunct="1">
              <a:lnSpc>
                <a:spcPct val="90000"/>
              </a:lnSpc>
              <a:spcBef>
                <a:spcPts val="500"/>
              </a:spcBef>
              <a:buFont typeface="Arial" panose="020B0604020202020204" pitchFamily="34" charset="0"/>
              <a:buChar char="–"/>
              <a:defRPr sz="9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pt-BR" sz="1600" dirty="0"/>
              <a:t>3. </a:t>
            </a:r>
            <a:r>
              <a:rPr sz="1600" dirty="0"/>
              <a:t>📌 </a:t>
            </a:r>
            <a:r>
              <a:rPr lang="en-US" sz="1600" dirty="0"/>
              <a:t>Proposals” (options A/B/C)</a:t>
            </a:r>
            <a:endParaRPr sz="1600" dirty="0"/>
          </a:p>
        </p:txBody>
      </p:sp>
      <p:graphicFrame>
        <p:nvGraphicFramePr>
          <p:cNvPr id="7" name="Chart 1">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286741505"/>
              </p:ext>
            </p:extLst>
          </p:nvPr>
        </p:nvGraphicFramePr>
        <p:xfrm>
          <a:off x="5112930" y="2779840"/>
          <a:ext cx="4111349" cy="2040626"/>
        </p:xfrm>
        <a:graphic>
          <a:graphicData uri="http://schemas.openxmlformats.org/drawingml/2006/chart">
            <c:chart xmlns:c="http://schemas.openxmlformats.org/drawingml/2006/chart" xmlns:r="http://schemas.openxmlformats.org/officeDocument/2006/relationships" r:id="rId2"/>
          </a:graphicData>
        </a:graphic>
      </p:graphicFrame>
      <p:sp>
        <p:nvSpPr>
          <p:cNvPr id="9" name="CaixaDeTexto 8">
            <a:extLst>
              <a:ext uri="{FF2B5EF4-FFF2-40B4-BE49-F238E27FC236}">
                <a16:creationId xmlns:a16="http://schemas.microsoft.com/office/drawing/2014/main" id="{3C388B4F-D08C-BC81-DFE7-76B207E942E8}"/>
              </a:ext>
            </a:extLst>
          </p:cNvPr>
          <p:cNvSpPr txBox="1"/>
          <p:nvPr/>
        </p:nvSpPr>
        <p:spPr>
          <a:xfrm>
            <a:off x="7968883" y="3737574"/>
            <a:ext cx="896396" cy="338554"/>
          </a:xfrm>
          <a:prstGeom prst="rect">
            <a:avLst/>
          </a:prstGeom>
          <a:noFill/>
        </p:spPr>
        <p:txBody>
          <a:bodyPr wrap="square" rtlCol="0">
            <a:spAutoFit/>
          </a:bodyPr>
          <a:lstStyle/>
          <a:p>
            <a:r>
              <a:rPr dirty="0"/>
              <a:t>“Delta”</a:t>
            </a:r>
          </a:p>
        </p:txBody>
      </p:sp>
      <p:sp>
        <p:nvSpPr>
          <p:cNvPr id="12" name="Text Placeholder 2">
            <a:extLst>
              <a:ext uri="{FF2B5EF4-FFF2-40B4-BE49-F238E27FC236}">
                <a16:creationId xmlns:a16="http://schemas.microsoft.com/office/drawing/2014/main" id="{7F999E8A-A944-E2AA-45D6-D979639735BC}"/>
              </a:ext>
            </a:extLst>
          </p:cNvPr>
          <p:cNvSpPr txBox="1">
            <a:spLocks/>
          </p:cNvSpPr>
          <p:nvPr/>
        </p:nvSpPr>
        <p:spPr>
          <a:xfrm>
            <a:off x="1" y="2523700"/>
            <a:ext cx="3387622" cy="2398923"/>
          </a:xfrm>
          <a:prstGeom prst="rect">
            <a:avLst/>
          </a:prstGeom>
        </p:spPr>
        <p:txBody>
          <a:bodyPr vert="horz" lIns="45720" tIns="73152" rIns="45720" bIns="45720" rtlCol="0">
            <a:noAutofit/>
          </a:bodyPr>
          <a:lstStyle>
            <a:lvl1pPr marL="171450" indent="-171450" defTabSz="90000" eaLnBrk="1" latinLnBrk="0" hangingPunct="1">
              <a:lnSpc>
                <a:spcPct val="100000"/>
              </a:lnSpc>
              <a:spcBef>
                <a:spcPts val="1000"/>
              </a:spcBef>
              <a:spcAft>
                <a:spcPts val="0"/>
              </a:spcAft>
              <a:buClrTx/>
              <a:buSzPct val="95000"/>
              <a:buFont typeface="Courier New" panose="02070309020205020404" pitchFamily="49" charset="0"/>
              <a:buChar char="o"/>
              <a:tabLst>
                <a:tab pos="179388" algn="l"/>
              </a:tabLst>
              <a:defRPr sz="1100" b="0">
                <a:latin typeface="+mn-lt"/>
              </a:defRPr>
            </a:lvl1pPr>
            <a:lvl2pPr marL="360000" indent="-180000" defTabSz="90000" eaLnBrk="1" latinLnBrk="0" hangingPunct="1">
              <a:lnSpc>
                <a:spcPct val="90000"/>
              </a:lnSpc>
              <a:spcBef>
                <a:spcPts val="500"/>
              </a:spcBef>
              <a:spcAft>
                <a:spcPts val="0"/>
              </a:spcAft>
              <a:buSzPct val="100000"/>
              <a:buFont typeface="Calibri" panose="020F0502020204030204" pitchFamily="34" charset="0"/>
              <a:buChar char="○"/>
              <a:defRPr sz="1200">
                <a:latin typeface="+mn-lt"/>
              </a:defRPr>
            </a:lvl2pPr>
            <a:lvl3pPr marL="504000" indent="-144000" defTabSz="90000" eaLnBrk="1" latinLnBrk="0" hangingPunct="1">
              <a:lnSpc>
                <a:spcPct val="90000"/>
              </a:lnSpc>
              <a:spcBef>
                <a:spcPts val="500"/>
              </a:spcBef>
              <a:spcAft>
                <a:spcPts val="0"/>
              </a:spcAft>
              <a:buSzPct val="100000"/>
              <a:buFont typeface="Wingdings" panose="05000000000000000000" pitchFamily="2" charset="2"/>
              <a:buChar char="§"/>
              <a:defRPr sz="1100">
                <a:latin typeface="+mn-lt"/>
              </a:defRPr>
            </a:lvl3pPr>
            <a:lvl4pPr marL="684000" indent="-144000" defTabSz="90000" eaLnBrk="1" latinLnBrk="0" hangingPunct="1">
              <a:lnSpc>
                <a:spcPct val="90000"/>
              </a:lnSpc>
              <a:spcBef>
                <a:spcPts val="500"/>
              </a:spcBef>
              <a:spcAft>
                <a:spcPts val="0"/>
              </a:spcAft>
              <a:buSzPct val="100000"/>
              <a:buFont typeface="Arial" panose="020B0604020202020204" pitchFamily="34" charset="0"/>
              <a:buChar char="›"/>
              <a:defRPr sz="1000">
                <a:latin typeface="+mn-lt"/>
              </a:defRPr>
            </a:lvl4pPr>
            <a:lvl5pPr marL="792000" indent="-108000" defTabSz="90000" eaLnBrk="1" latinLnBrk="0" hangingPunct="1">
              <a:lnSpc>
                <a:spcPct val="90000"/>
              </a:lnSpc>
              <a:spcBef>
                <a:spcPts val="500"/>
              </a:spcBef>
              <a:buFont typeface="Arial" panose="020B0604020202020204" pitchFamily="34" charset="0"/>
              <a:buChar char="–"/>
              <a:defRPr sz="9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marL="0" indent="0" algn="just">
              <a:spcBef>
                <a:spcPts val="0"/>
              </a:spcBef>
              <a:buNone/>
            </a:pPr>
            <a:r>
              <a:rPr lang="en-US" sz="900" b="1" dirty="0">
                <a:latin typeface="+mj-lt"/>
              </a:rPr>
              <a:t>1# Full dealer‑supported </a:t>
            </a:r>
            <a:r>
              <a:rPr lang="en-US" sz="900" dirty="0">
                <a:latin typeface="+mj-lt"/>
              </a:rPr>
              <a:t>maintenance ensures maximum reliability through certified processes, Komatsu Genuine Parts, structured inspections, and continuous monitoring =&gt; resulting in the lowest probability of unplanned failures and cost deviation</a:t>
            </a:r>
          </a:p>
          <a:p>
            <a:pPr marL="0" indent="0" algn="just">
              <a:spcBef>
                <a:spcPts val="0"/>
              </a:spcBef>
              <a:buNone/>
            </a:pPr>
            <a:endParaRPr sz="900" dirty="0">
              <a:latin typeface="+mj-lt"/>
            </a:endParaRPr>
          </a:p>
          <a:p>
            <a:pPr marL="0" indent="0" algn="just">
              <a:spcBef>
                <a:spcPts val="0"/>
              </a:spcBef>
              <a:buNone/>
            </a:pPr>
            <a:r>
              <a:rPr lang="en-US" sz="900" b="1" dirty="0"/>
              <a:t>2# </a:t>
            </a:r>
            <a:r>
              <a:rPr lang="en-US" sz="900" b="1" dirty="0">
                <a:latin typeface="+mj-lt"/>
              </a:rPr>
              <a:t>Customer-led maintenance </a:t>
            </a:r>
            <a:r>
              <a:rPr lang="en-US" sz="900" dirty="0">
                <a:latin typeface="+mj-lt"/>
              </a:rPr>
              <a:t>without a dealer contract maintains autonomy but increases responsibility for process execution and documentation. Risk is mitigated through mandatory use of Komatsu Genuine Parts.</a:t>
            </a:r>
          </a:p>
          <a:p>
            <a:pPr marL="0" indent="0" algn="just">
              <a:spcBef>
                <a:spcPts val="0"/>
              </a:spcBef>
              <a:buNone/>
            </a:pPr>
            <a:endParaRPr lang="en-US" sz="900" b="1" dirty="0"/>
          </a:p>
          <a:p>
            <a:pPr marL="0" indent="0" algn="just">
              <a:spcBef>
                <a:spcPts val="0"/>
              </a:spcBef>
              <a:buNone/>
            </a:pPr>
            <a:r>
              <a:rPr lang="en-US" sz="900" b="1" dirty="0"/>
              <a:t>3# </a:t>
            </a:r>
            <a:r>
              <a:rPr lang="en-US" sz="900" b="1" dirty="0">
                <a:latin typeface="+mj-lt"/>
              </a:rPr>
              <a:t>Remote technical supervision </a:t>
            </a:r>
            <a:r>
              <a:rPr lang="en-US" sz="900" dirty="0">
                <a:latin typeface="+mj-lt"/>
              </a:rPr>
              <a:t>combines customer‑executed maintenance with structured oversight from Komatsu specialists. Risk reduction is achieved through disciplined task registration. This approach preserves technical governance while enabling cost savings and expanding coverage to remote operations.</a:t>
            </a:r>
            <a:endParaRPr sz="900" dirty="0">
              <a:latin typeface="+mj-lt"/>
            </a:endParaRPr>
          </a:p>
        </p:txBody>
      </p:sp>
      <p:cxnSp>
        <p:nvCxnSpPr>
          <p:cNvPr id="6" name="Conector reto 5">
            <a:extLst>
              <a:ext uri="{FF2B5EF4-FFF2-40B4-BE49-F238E27FC236}">
                <a16:creationId xmlns:a16="http://schemas.microsoft.com/office/drawing/2014/main" id="{F6462CF5-D779-381D-428D-A2FC23B089D8}"/>
              </a:ext>
            </a:extLst>
          </p:cNvPr>
          <p:cNvCxnSpPr>
            <a:cxnSpLocks/>
            <a:endCxn id="16" idx="1"/>
          </p:cNvCxnSpPr>
          <p:nvPr/>
        </p:nvCxnSpPr>
        <p:spPr>
          <a:xfrm flipH="1" flipV="1">
            <a:off x="5068568" y="1067372"/>
            <a:ext cx="12425" cy="4063431"/>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FBBFE26A-CA95-E8CB-CD9E-B21B98DDFF3B}"/>
              </a:ext>
            </a:extLst>
          </p:cNvPr>
          <p:cNvSpPr txBox="1"/>
          <p:nvPr/>
        </p:nvSpPr>
        <p:spPr>
          <a:xfrm>
            <a:off x="3683774" y="2700502"/>
            <a:ext cx="1404000" cy="415498"/>
          </a:xfrm>
          <a:prstGeom prst="rect">
            <a:avLst/>
          </a:prstGeom>
          <a:noFill/>
        </p:spPr>
        <p:txBody>
          <a:bodyPr wrap="square">
            <a:spAutoFit/>
          </a:bodyPr>
          <a:lstStyle/>
          <a:p>
            <a:r>
              <a:rPr lang="en-US" sz="1050" b="1" dirty="0">
                <a:solidFill>
                  <a:schemeClr val="tx1"/>
                </a:solidFill>
              </a:rPr>
              <a:t>Plan A – with Dealer support</a:t>
            </a:r>
            <a:endParaRPr lang="pt-BR" sz="1050" dirty="0"/>
          </a:p>
        </p:txBody>
      </p:sp>
      <p:sp>
        <p:nvSpPr>
          <p:cNvPr id="24" name="CaixaDeTexto 23">
            <a:extLst>
              <a:ext uri="{FF2B5EF4-FFF2-40B4-BE49-F238E27FC236}">
                <a16:creationId xmlns:a16="http://schemas.microsoft.com/office/drawing/2014/main" id="{E33B2AE2-8751-EF5B-F9DA-BD9D827669DF}"/>
              </a:ext>
            </a:extLst>
          </p:cNvPr>
          <p:cNvSpPr txBox="1"/>
          <p:nvPr/>
        </p:nvSpPr>
        <p:spPr>
          <a:xfrm>
            <a:off x="3683774" y="3284022"/>
            <a:ext cx="1404000" cy="577081"/>
          </a:xfrm>
          <a:prstGeom prst="rect">
            <a:avLst/>
          </a:prstGeom>
          <a:noFill/>
        </p:spPr>
        <p:txBody>
          <a:bodyPr wrap="square">
            <a:spAutoFit/>
          </a:bodyPr>
          <a:lstStyle/>
          <a:p>
            <a:r>
              <a:rPr lang="en-US" sz="1050" b="1" dirty="0">
                <a:solidFill>
                  <a:schemeClr val="tx1"/>
                </a:solidFill>
              </a:rPr>
              <a:t>Plan B – Without a maintenance contract with the Dealer</a:t>
            </a:r>
          </a:p>
        </p:txBody>
      </p:sp>
      <p:sp>
        <p:nvSpPr>
          <p:cNvPr id="25" name="CaixaDeTexto 24">
            <a:extLst>
              <a:ext uri="{FF2B5EF4-FFF2-40B4-BE49-F238E27FC236}">
                <a16:creationId xmlns:a16="http://schemas.microsoft.com/office/drawing/2014/main" id="{13C4F663-FBD6-EB2B-384D-4E257135F431}"/>
              </a:ext>
            </a:extLst>
          </p:cNvPr>
          <p:cNvSpPr txBox="1"/>
          <p:nvPr/>
        </p:nvSpPr>
        <p:spPr>
          <a:xfrm>
            <a:off x="3683774" y="4038795"/>
            <a:ext cx="1404000" cy="738664"/>
          </a:xfrm>
          <a:prstGeom prst="rect">
            <a:avLst/>
          </a:prstGeom>
          <a:noFill/>
        </p:spPr>
        <p:txBody>
          <a:bodyPr wrap="square">
            <a:spAutoFit/>
          </a:bodyPr>
          <a:lstStyle/>
          <a:p>
            <a:r>
              <a:rPr lang="en-US" sz="1050" b="1" dirty="0">
                <a:solidFill>
                  <a:schemeClr val="tx1"/>
                </a:solidFill>
              </a:rPr>
              <a:t>Plan C – In‑house Operation with Remote Technical Support</a:t>
            </a:r>
          </a:p>
        </p:txBody>
      </p:sp>
      <p:sp>
        <p:nvSpPr>
          <p:cNvPr id="29" name="Seta: para a Direita Listrada 28">
            <a:extLst>
              <a:ext uri="{FF2B5EF4-FFF2-40B4-BE49-F238E27FC236}">
                <a16:creationId xmlns:a16="http://schemas.microsoft.com/office/drawing/2014/main" id="{280B63EC-AB65-29B7-FBD7-041C7AAD3F58}"/>
              </a:ext>
            </a:extLst>
          </p:cNvPr>
          <p:cNvSpPr/>
          <p:nvPr/>
        </p:nvSpPr>
        <p:spPr>
          <a:xfrm>
            <a:off x="3402402" y="2630767"/>
            <a:ext cx="251787" cy="554969"/>
          </a:xfrm>
          <a:prstGeom prst="stripedRightArrow">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Seta: para a Direita Listrada 29">
            <a:extLst>
              <a:ext uri="{FF2B5EF4-FFF2-40B4-BE49-F238E27FC236}">
                <a16:creationId xmlns:a16="http://schemas.microsoft.com/office/drawing/2014/main" id="{02032DA5-81D8-543B-74ED-2CF1B0C0E4E8}"/>
              </a:ext>
            </a:extLst>
          </p:cNvPr>
          <p:cNvSpPr/>
          <p:nvPr/>
        </p:nvSpPr>
        <p:spPr>
          <a:xfrm>
            <a:off x="3402402" y="3295078"/>
            <a:ext cx="251787" cy="554969"/>
          </a:xfrm>
          <a:prstGeom prst="stripedRightArrow">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Seta: para a Direita Listrada 30">
            <a:extLst>
              <a:ext uri="{FF2B5EF4-FFF2-40B4-BE49-F238E27FC236}">
                <a16:creationId xmlns:a16="http://schemas.microsoft.com/office/drawing/2014/main" id="{4409FDDC-807A-0C5D-E2C0-863A163AFABA}"/>
              </a:ext>
            </a:extLst>
          </p:cNvPr>
          <p:cNvSpPr/>
          <p:nvPr/>
        </p:nvSpPr>
        <p:spPr>
          <a:xfrm>
            <a:off x="3387623" y="4130643"/>
            <a:ext cx="251787" cy="554969"/>
          </a:xfrm>
          <a:prstGeom prst="stripedRightArrow">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78545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ED9434-004F-42DA-839B-923CA233680B}"/>
              </a:ext>
            </a:extLst>
          </p:cNvPr>
          <p:cNvSpPr>
            <a:spLocks noGrp="1"/>
          </p:cNvSpPr>
          <p:nvPr>
            <p:ph type="body" sz="quarter" idx="10"/>
          </p:nvPr>
        </p:nvSpPr>
        <p:spPr>
          <a:xfrm>
            <a:off x="-483" y="933834"/>
            <a:ext cx="2762744" cy="468060"/>
          </a:xfrm>
        </p:spPr>
        <p:txBody>
          <a:bodyPr vert="horz" lIns="45720" tIns="73152" rIns="45720" bIns="45720" rtlCol="0" anchor="b" anchorCtr="0">
            <a:noAutofit/>
          </a:bodyPr>
          <a:lstStyle/>
          <a:p>
            <a:pPr algn="l"/>
            <a:r>
              <a:rPr sz="1100" b="1" dirty="0">
                <a:solidFill>
                  <a:schemeClr val="tx1"/>
                </a:solidFill>
              </a:rPr>
              <a:t>✔ </a:t>
            </a:r>
            <a:r>
              <a:rPr lang="en-US" sz="1100" b="1" dirty="0">
                <a:solidFill>
                  <a:schemeClr val="tx1"/>
                </a:solidFill>
              </a:rPr>
              <a:t>Prerequisites (Plan A – with Dealer support)</a:t>
            </a:r>
            <a:endParaRPr sz="1100" b="1" dirty="0">
              <a:solidFill>
                <a:schemeClr val="tx1"/>
              </a:solidFill>
            </a:endParaRPr>
          </a:p>
        </p:txBody>
      </p:sp>
      <p:sp>
        <p:nvSpPr>
          <p:cNvPr id="8" name="CaixaDeTexto 7">
            <a:extLst>
              <a:ext uri="{FF2B5EF4-FFF2-40B4-BE49-F238E27FC236}">
                <a16:creationId xmlns:a16="http://schemas.microsoft.com/office/drawing/2014/main" id="{E347CD9B-E90D-551B-5588-EF3BC91AC621}"/>
              </a:ext>
            </a:extLst>
          </p:cNvPr>
          <p:cNvSpPr txBox="1"/>
          <p:nvPr/>
        </p:nvSpPr>
        <p:spPr>
          <a:xfrm>
            <a:off x="84786" y="14926"/>
            <a:ext cx="9023692" cy="461665"/>
          </a:xfrm>
          <a:prstGeom prst="rect">
            <a:avLst/>
          </a:prstGeom>
          <a:noFill/>
        </p:spPr>
        <p:txBody>
          <a:bodyPr wrap="square">
            <a:spAutoFit/>
          </a:bodyPr>
          <a:lstStyle/>
          <a:p>
            <a:r>
              <a:rPr lang="pt-BR" sz="2400" dirty="0" err="1">
                <a:solidFill>
                  <a:schemeClr val="bg1"/>
                </a:solidFill>
              </a:rPr>
              <a:t>Comparison</a:t>
            </a:r>
            <a:r>
              <a:rPr lang="pt-BR" sz="2400" dirty="0">
                <a:solidFill>
                  <a:schemeClr val="bg1"/>
                </a:solidFill>
              </a:rPr>
              <a:t> A / B / C</a:t>
            </a:r>
            <a:endParaRPr sz="2400" dirty="0">
              <a:solidFill>
                <a:schemeClr val="bg1"/>
              </a:solidFill>
            </a:endParaRPr>
          </a:p>
        </p:txBody>
      </p:sp>
      <p:cxnSp>
        <p:nvCxnSpPr>
          <p:cNvPr id="10" name="Conector reto 9">
            <a:extLst>
              <a:ext uri="{FF2B5EF4-FFF2-40B4-BE49-F238E27FC236}">
                <a16:creationId xmlns:a16="http://schemas.microsoft.com/office/drawing/2014/main" id="{773AD935-B256-D002-B95F-2213104F1FB8}"/>
              </a:ext>
            </a:extLst>
          </p:cNvPr>
          <p:cNvCxnSpPr>
            <a:cxnSpLocks/>
          </p:cNvCxnSpPr>
          <p:nvPr/>
        </p:nvCxnSpPr>
        <p:spPr>
          <a:xfrm>
            <a:off x="2787278" y="1024277"/>
            <a:ext cx="0" cy="4119223"/>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 Placeholder 1">
            <a:extLst>
              <a:ext uri="{FF2B5EF4-FFF2-40B4-BE49-F238E27FC236}">
                <a16:creationId xmlns:a16="http://schemas.microsoft.com/office/drawing/2014/main" id="{2B4A57DF-E82A-0839-1E5D-DD4C9475F1EB}"/>
              </a:ext>
            </a:extLst>
          </p:cNvPr>
          <p:cNvSpPr txBox="1">
            <a:spLocks/>
          </p:cNvSpPr>
          <p:nvPr/>
        </p:nvSpPr>
        <p:spPr>
          <a:xfrm>
            <a:off x="40664" y="2918738"/>
            <a:ext cx="2782045" cy="333782"/>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1600" dirty="0"/>
              <a:t>📌 Highlight</a:t>
            </a:r>
          </a:p>
        </p:txBody>
      </p:sp>
      <p:cxnSp>
        <p:nvCxnSpPr>
          <p:cNvPr id="36" name="Conector reto 35">
            <a:extLst>
              <a:ext uri="{FF2B5EF4-FFF2-40B4-BE49-F238E27FC236}">
                <a16:creationId xmlns:a16="http://schemas.microsoft.com/office/drawing/2014/main" id="{360AEABA-F7EB-4188-55F9-112F5C87845D}"/>
              </a:ext>
            </a:extLst>
          </p:cNvPr>
          <p:cNvCxnSpPr>
            <a:cxnSpLocks/>
          </p:cNvCxnSpPr>
          <p:nvPr/>
        </p:nvCxnSpPr>
        <p:spPr>
          <a:xfrm>
            <a:off x="5844973" y="1041753"/>
            <a:ext cx="0" cy="4101747"/>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 Placeholder 1">
            <a:extLst>
              <a:ext uri="{FF2B5EF4-FFF2-40B4-BE49-F238E27FC236}">
                <a16:creationId xmlns:a16="http://schemas.microsoft.com/office/drawing/2014/main" id="{FFA36125-3357-978E-9BCB-7B79A9123591}"/>
              </a:ext>
            </a:extLst>
          </p:cNvPr>
          <p:cNvSpPr txBox="1">
            <a:spLocks/>
          </p:cNvSpPr>
          <p:nvPr/>
        </p:nvSpPr>
        <p:spPr>
          <a:xfrm>
            <a:off x="5876069" y="2045336"/>
            <a:ext cx="3261056" cy="257850"/>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1600" dirty="0"/>
              <a:t>📌 Highlight</a:t>
            </a:r>
          </a:p>
        </p:txBody>
      </p:sp>
      <p:sp>
        <p:nvSpPr>
          <p:cNvPr id="38" name="Text Placeholder 1">
            <a:extLst>
              <a:ext uri="{FF2B5EF4-FFF2-40B4-BE49-F238E27FC236}">
                <a16:creationId xmlns:a16="http://schemas.microsoft.com/office/drawing/2014/main" id="{6890B056-46D9-416B-8B1E-31B30AE1D48D}"/>
              </a:ext>
            </a:extLst>
          </p:cNvPr>
          <p:cNvSpPr txBox="1">
            <a:spLocks/>
          </p:cNvSpPr>
          <p:nvPr/>
        </p:nvSpPr>
        <p:spPr>
          <a:xfrm>
            <a:off x="2787278" y="2176226"/>
            <a:ext cx="3060000" cy="270453"/>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1600" dirty="0"/>
              <a:t>📌 Highlight</a:t>
            </a:r>
          </a:p>
        </p:txBody>
      </p:sp>
      <p:sp>
        <p:nvSpPr>
          <p:cNvPr id="40" name="Text Placeholder 1">
            <a:extLst>
              <a:ext uri="{FF2B5EF4-FFF2-40B4-BE49-F238E27FC236}">
                <a16:creationId xmlns:a16="http://schemas.microsoft.com/office/drawing/2014/main" id="{E6B4F698-49F2-4FA5-6052-E584A2A20FD3}"/>
              </a:ext>
            </a:extLst>
          </p:cNvPr>
          <p:cNvSpPr txBox="1">
            <a:spLocks/>
          </p:cNvSpPr>
          <p:nvPr/>
        </p:nvSpPr>
        <p:spPr>
          <a:xfrm>
            <a:off x="5875798" y="933834"/>
            <a:ext cx="3189930" cy="468060"/>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1100" b="1" dirty="0">
                <a:solidFill>
                  <a:schemeClr val="tx1"/>
                </a:solidFill>
              </a:rPr>
              <a:t>✔ </a:t>
            </a:r>
            <a:r>
              <a:rPr lang="en-US" sz="1100" b="1" dirty="0">
                <a:solidFill>
                  <a:schemeClr val="tx1"/>
                </a:solidFill>
              </a:rPr>
              <a:t>Plan C – In‑house Operation with Remote Technical Support</a:t>
            </a:r>
            <a:endParaRPr sz="1100" b="1" dirty="0">
              <a:solidFill>
                <a:schemeClr val="tx1"/>
              </a:solidFill>
            </a:endParaRPr>
          </a:p>
        </p:txBody>
      </p:sp>
      <p:sp>
        <p:nvSpPr>
          <p:cNvPr id="41" name="Text Placeholder 1">
            <a:extLst>
              <a:ext uri="{FF2B5EF4-FFF2-40B4-BE49-F238E27FC236}">
                <a16:creationId xmlns:a16="http://schemas.microsoft.com/office/drawing/2014/main" id="{AADAA487-E20D-C5C6-9A87-512C9C4413CE}"/>
              </a:ext>
            </a:extLst>
          </p:cNvPr>
          <p:cNvSpPr txBox="1">
            <a:spLocks/>
          </p:cNvSpPr>
          <p:nvPr/>
        </p:nvSpPr>
        <p:spPr>
          <a:xfrm>
            <a:off x="2825154" y="933834"/>
            <a:ext cx="3189932" cy="468060"/>
          </a:xfrm>
          <a:prstGeom prst="rect">
            <a:avLst/>
          </a:prstGeom>
        </p:spPr>
        <p:txBody>
          <a:bodyPr vert="horz" lIns="45720" tIns="73152" rIns="45720" bIns="45720" rtlCol="0" anchor="b" anchorCtr="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2800" b="0" kern="1200">
                <a:solidFill>
                  <a:schemeClr val="tx2"/>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sz="1100" b="1" dirty="0">
                <a:solidFill>
                  <a:schemeClr val="tx1"/>
                </a:solidFill>
              </a:rPr>
              <a:t>✔ </a:t>
            </a:r>
            <a:r>
              <a:rPr lang="en-US" sz="1100" b="1" dirty="0">
                <a:solidFill>
                  <a:schemeClr val="tx1"/>
                </a:solidFill>
              </a:rPr>
              <a:t>Plan B – Without a maintenance contract with the Dealer</a:t>
            </a:r>
            <a:endParaRPr sz="1100" b="1" dirty="0">
              <a:solidFill>
                <a:schemeClr val="tx1"/>
              </a:solidFill>
            </a:endParaRPr>
          </a:p>
        </p:txBody>
      </p:sp>
      <p:sp>
        <p:nvSpPr>
          <p:cNvPr id="45" name="Text Placeholder 2">
            <a:extLst>
              <a:ext uri="{FF2B5EF4-FFF2-40B4-BE49-F238E27FC236}">
                <a16:creationId xmlns:a16="http://schemas.microsoft.com/office/drawing/2014/main" id="{694EB3F9-E6EF-2CFF-5F83-10663C1A4D01}"/>
              </a:ext>
            </a:extLst>
          </p:cNvPr>
          <p:cNvSpPr txBox="1">
            <a:spLocks/>
          </p:cNvSpPr>
          <p:nvPr/>
        </p:nvSpPr>
        <p:spPr>
          <a:xfrm>
            <a:off x="-17463" y="1314820"/>
            <a:ext cx="2804742" cy="1875267"/>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sz="700" b="1" dirty="0" err="1">
                <a:latin typeface="+mj-lt"/>
              </a:rPr>
              <a:t>MMK+Komatsu</a:t>
            </a:r>
            <a:r>
              <a:rPr sz="700" b="1" dirty="0">
                <a:latin typeface="+mj-lt"/>
              </a:rPr>
              <a:t> Mais</a:t>
            </a:r>
          </a:p>
          <a:p>
            <a:pPr marL="228600" indent="-228600" algn="just">
              <a:spcBef>
                <a:spcPts val="0"/>
              </a:spcBef>
              <a:buFont typeface="+mj-lt"/>
              <a:buAutoNum type="alphaLcParenR"/>
            </a:pPr>
            <a:r>
              <a:rPr lang="pt-BR" sz="700" dirty="0" err="1">
                <a:latin typeface="+mj-lt"/>
              </a:rPr>
              <a:t>Technical</a:t>
            </a:r>
            <a:r>
              <a:rPr lang="pt-BR" sz="700" dirty="0">
                <a:latin typeface="+mj-lt"/>
              </a:rPr>
              <a:t> Delivery </a:t>
            </a:r>
            <a:r>
              <a:rPr lang="pt-BR" sz="700" dirty="0" err="1">
                <a:latin typeface="+mj-lt"/>
              </a:rPr>
              <a:t>and</a:t>
            </a:r>
            <a:r>
              <a:rPr lang="pt-BR" sz="700" dirty="0">
                <a:latin typeface="+mj-lt"/>
              </a:rPr>
              <a:t> </a:t>
            </a:r>
            <a:r>
              <a:rPr lang="pt-BR" sz="700" dirty="0" err="1">
                <a:latin typeface="+mj-lt"/>
              </a:rPr>
              <a:t>Initial</a:t>
            </a:r>
            <a:r>
              <a:rPr lang="pt-BR" sz="700" dirty="0">
                <a:latin typeface="+mj-lt"/>
              </a:rPr>
              <a:t> Checklist</a:t>
            </a:r>
          </a:p>
          <a:p>
            <a:pPr marL="228600" indent="-228600" algn="just">
              <a:spcBef>
                <a:spcPts val="0"/>
              </a:spcBef>
              <a:buFont typeface="+mj-lt"/>
              <a:buAutoNum type="alphaLcParenR"/>
            </a:pPr>
            <a:r>
              <a:rPr lang="pt-BR" sz="700" dirty="0" err="1">
                <a:latin typeface="+mj-lt"/>
              </a:rPr>
              <a:t>Activation</a:t>
            </a:r>
            <a:r>
              <a:rPr lang="pt-BR" sz="700" dirty="0">
                <a:latin typeface="+mj-lt"/>
              </a:rPr>
              <a:t> </a:t>
            </a:r>
            <a:r>
              <a:rPr lang="pt-BR" sz="700" dirty="0" err="1">
                <a:latin typeface="+mj-lt"/>
              </a:rPr>
              <a:t>and</a:t>
            </a:r>
            <a:r>
              <a:rPr lang="pt-BR" sz="700" dirty="0">
                <a:latin typeface="+mj-lt"/>
              </a:rPr>
              <a:t> </a:t>
            </a:r>
            <a:r>
              <a:rPr lang="pt-BR" sz="700" dirty="0" err="1">
                <a:latin typeface="+mj-lt"/>
              </a:rPr>
              <a:t>validation</a:t>
            </a:r>
            <a:r>
              <a:rPr lang="pt-BR" sz="700" dirty="0">
                <a:latin typeface="+mj-lt"/>
              </a:rPr>
              <a:t> </a:t>
            </a:r>
            <a:r>
              <a:rPr lang="pt-BR" sz="700" dirty="0" err="1">
                <a:latin typeface="+mj-lt"/>
              </a:rPr>
              <a:t>of</a:t>
            </a:r>
            <a:r>
              <a:rPr lang="pt-BR" sz="700" dirty="0">
                <a:latin typeface="+mj-lt"/>
              </a:rPr>
              <a:t> KOMTRAX (</a:t>
            </a:r>
            <a:r>
              <a:rPr lang="pt-BR" sz="700" dirty="0" err="1">
                <a:latin typeface="+mj-lt"/>
              </a:rPr>
              <a:t>telemetry</a:t>
            </a:r>
            <a:r>
              <a:rPr lang="pt-BR" sz="700" dirty="0">
                <a:latin typeface="+mj-lt"/>
              </a:rPr>
              <a:t>)</a:t>
            </a:r>
          </a:p>
          <a:p>
            <a:pPr marL="228600" indent="-228600" algn="just">
              <a:spcBef>
                <a:spcPts val="0"/>
              </a:spcBef>
              <a:buFont typeface="+mj-lt"/>
              <a:buAutoNum type="alphaLcParenR"/>
            </a:pPr>
            <a:r>
              <a:rPr lang="pt-BR" sz="700" dirty="0" err="1">
                <a:latin typeface="+mj-lt"/>
              </a:rPr>
              <a:t>Mandatory</a:t>
            </a:r>
            <a:r>
              <a:rPr lang="pt-BR" sz="700" dirty="0">
                <a:latin typeface="+mj-lt"/>
              </a:rPr>
              <a:t> Service</a:t>
            </a:r>
          </a:p>
          <a:p>
            <a:pPr marL="588600" lvl="1" indent="-228600" algn="just">
              <a:spcBef>
                <a:spcPts val="0"/>
              </a:spcBef>
              <a:buFont typeface="Arial" panose="020B0604020202020204" pitchFamily="34" charset="0"/>
              <a:buChar char="•"/>
            </a:pPr>
            <a:r>
              <a:rPr lang="pt-BR" sz="700" dirty="0">
                <a:latin typeface="+mj-lt"/>
              </a:rPr>
              <a:t>3 </a:t>
            </a:r>
            <a:r>
              <a:rPr lang="pt-BR" sz="700" dirty="0" err="1">
                <a:latin typeface="+mj-lt"/>
              </a:rPr>
              <a:t>months</a:t>
            </a:r>
            <a:r>
              <a:rPr lang="pt-BR" sz="700" dirty="0">
                <a:latin typeface="+mj-lt"/>
              </a:rPr>
              <a:t> (PMP + KOWA + GET/UMS </a:t>
            </a:r>
            <a:r>
              <a:rPr lang="pt-BR" sz="700" dirty="0" err="1">
                <a:latin typeface="+mj-lt"/>
              </a:rPr>
              <a:t>Inspection</a:t>
            </a:r>
            <a:r>
              <a:rPr lang="pt-BR" sz="700" dirty="0">
                <a:latin typeface="+mj-lt"/>
              </a:rPr>
              <a:t>)</a:t>
            </a:r>
          </a:p>
          <a:p>
            <a:pPr marL="588600" lvl="1" indent="-228600" algn="just">
              <a:spcBef>
                <a:spcPts val="0"/>
              </a:spcBef>
              <a:buFont typeface="Arial" panose="020B0604020202020204" pitchFamily="34" charset="0"/>
              <a:buChar char="•"/>
            </a:pPr>
            <a:r>
              <a:rPr lang="pt-BR" sz="700" dirty="0">
                <a:latin typeface="+mj-lt"/>
              </a:rPr>
              <a:t>6 </a:t>
            </a:r>
            <a:r>
              <a:rPr lang="pt-BR" sz="700" dirty="0" err="1">
                <a:latin typeface="+mj-lt"/>
              </a:rPr>
              <a:t>months</a:t>
            </a:r>
            <a:r>
              <a:rPr lang="pt-BR" sz="700" dirty="0">
                <a:latin typeface="+mj-lt"/>
              </a:rPr>
              <a:t> (PMP + KOWA + GET/UMS)</a:t>
            </a:r>
          </a:p>
          <a:p>
            <a:pPr marL="588600" lvl="1" indent="-228600" algn="just">
              <a:spcBef>
                <a:spcPts val="0"/>
              </a:spcBef>
              <a:buFont typeface="Arial" panose="020B0604020202020204" pitchFamily="34" charset="0"/>
              <a:buChar char="•"/>
            </a:pPr>
            <a:r>
              <a:rPr lang="pt-BR" sz="700" dirty="0">
                <a:latin typeface="+mj-lt"/>
              </a:rPr>
              <a:t>1 </a:t>
            </a:r>
            <a:r>
              <a:rPr lang="pt-BR" sz="700" dirty="0" err="1">
                <a:latin typeface="+mj-lt"/>
              </a:rPr>
              <a:t>months</a:t>
            </a:r>
            <a:r>
              <a:rPr lang="pt-BR" sz="700" dirty="0">
                <a:latin typeface="+mj-lt"/>
              </a:rPr>
              <a:t> (PMP + KOWA + GET/UMS)</a:t>
            </a:r>
          </a:p>
          <a:p>
            <a:pPr marL="228600" indent="-228600" algn="just">
              <a:spcBef>
                <a:spcPts val="0"/>
              </a:spcBef>
              <a:buFont typeface="+mj-lt"/>
              <a:buAutoNum type="alphaLcParenR"/>
            </a:pPr>
            <a:r>
              <a:rPr lang="pt-BR" sz="700" dirty="0" err="1">
                <a:latin typeface="+mj-lt"/>
              </a:rPr>
              <a:t>Execution</a:t>
            </a:r>
            <a:r>
              <a:rPr lang="pt-BR" sz="700" dirty="0">
                <a:latin typeface="+mj-lt"/>
              </a:rPr>
              <a:t> </a:t>
            </a:r>
            <a:r>
              <a:rPr lang="pt-BR" sz="700" dirty="0" err="1">
                <a:latin typeface="+mj-lt"/>
              </a:rPr>
              <a:t>of</a:t>
            </a:r>
            <a:r>
              <a:rPr lang="pt-BR" sz="700" dirty="0">
                <a:latin typeface="+mj-lt"/>
              </a:rPr>
              <a:t> </a:t>
            </a:r>
            <a:r>
              <a:rPr lang="pt-BR" sz="700" dirty="0" err="1">
                <a:latin typeface="+mj-lt"/>
              </a:rPr>
              <a:t>Systematic</a:t>
            </a:r>
            <a:r>
              <a:rPr lang="pt-BR" sz="700" dirty="0">
                <a:latin typeface="+mj-lt"/>
              </a:rPr>
              <a:t> </a:t>
            </a:r>
            <a:r>
              <a:rPr lang="pt-BR" sz="700" dirty="0" err="1">
                <a:latin typeface="+mj-lt"/>
              </a:rPr>
              <a:t>Preventive</a:t>
            </a:r>
            <a:r>
              <a:rPr lang="pt-BR" sz="700" dirty="0">
                <a:latin typeface="+mj-lt"/>
              </a:rPr>
              <a:t> </a:t>
            </a:r>
            <a:r>
              <a:rPr lang="pt-BR" sz="700" dirty="0" err="1">
                <a:latin typeface="+mj-lt"/>
              </a:rPr>
              <a:t>Maintenance</a:t>
            </a:r>
            <a:r>
              <a:rPr lang="pt-BR" sz="700" dirty="0">
                <a:latin typeface="+mj-lt"/>
              </a:rPr>
              <a:t> </a:t>
            </a:r>
            <a:r>
              <a:rPr lang="pt-BR" sz="700" dirty="0" err="1">
                <a:latin typeface="+mj-lt"/>
              </a:rPr>
              <a:t>under</a:t>
            </a:r>
            <a:r>
              <a:rPr lang="pt-BR" sz="700" dirty="0">
                <a:latin typeface="+mj-lt"/>
              </a:rPr>
              <a:t> </a:t>
            </a:r>
            <a:r>
              <a:rPr lang="pt-BR" sz="700" dirty="0" err="1">
                <a:latin typeface="+mj-lt"/>
              </a:rPr>
              <a:t>Dealer</a:t>
            </a:r>
            <a:r>
              <a:rPr lang="pt-BR" sz="700" dirty="0">
                <a:latin typeface="+mj-lt"/>
              </a:rPr>
              <a:t>/Komatsu </a:t>
            </a:r>
            <a:r>
              <a:rPr lang="pt-BR" sz="700" dirty="0" err="1">
                <a:latin typeface="+mj-lt"/>
              </a:rPr>
              <a:t>responsibility</a:t>
            </a:r>
            <a:endParaRPr lang="pt-BR" sz="700" dirty="0">
              <a:latin typeface="+mj-lt"/>
            </a:endParaRPr>
          </a:p>
          <a:p>
            <a:pPr marL="228600" indent="-228600" algn="just">
              <a:spcBef>
                <a:spcPts val="0"/>
              </a:spcBef>
              <a:buFont typeface="+mj-lt"/>
              <a:buAutoNum type="alphaLcParenR"/>
            </a:pPr>
            <a:r>
              <a:rPr lang="pt-BR" sz="700" dirty="0" err="1">
                <a:latin typeface="+mj-lt"/>
              </a:rPr>
              <a:t>Having</a:t>
            </a:r>
            <a:r>
              <a:rPr lang="pt-BR" sz="700" dirty="0">
                <a:latin typeface="+mj-lt"/>
              </a:rPr>
              <a:t> </a:t>
            </a:r>
            <a:r>
              <a:rPr lang="pt-BR" sz="700" dirty="0" err="1">
                <a:latin typeface="+mj-lt"/>
              </a:rPr>
              <a:t>the</a:t>
            </a:r>
            <a:r>
              <a:rPr lang="pt-BR" sz="700" dirty="0">
                <a:latin typeface="+mj-lt"/>
              </a:rPr>
              <a:t> Regional </a:t>
            </a:r>
            <a:r>
              <a:rPr lang="pt-BR" sz="700" dirty="0" err="1">
                <a:latin typeface="+mj-lt"/>
              </a:rPr>
              <a:t>Dealer</a:t>
            </a:r>
            <a:r>
              <a:rPr lang="pt-BR" sz="700" dirty="0">
                <a:latin typeface="+mj-lt"/>
              </a:rPr>
              <a:t> </a:t>
            </a:r>
            <a:r>
              <a:rPr lang="pt-BR" sz="700" dirty="0" err="1">
                <a:latin typeface="+mj-lt"/>
              </a:rPr>
              <a:t>available</a:t>
            </a:r>
            <a:r>
              <a:rPr lang="pt-BR" sz="700" dirty="0">
                <a:latin typeface="+mj-lt"/>
              </a:rPr>
              <a:t> </a:t>
            </a:r>
            <a:r>
              <a:rPr lang="pt-BR" sz="700" dirty="0" err="1">
                <a:latin typeface="+mj-lt"/>
              </a:rPr>
              <a:t>to</a:t>
            </a:r>
            <a:r>
              <a:rPr lang="pt-BR" sz="700" dirty="0">
                <a:latin typeface="+mj-lt"/>
              </a:rPr>
              <a:t> </a:t>
            </a:r>
            <a:r>
              <a:rPr lang="pt-BR" sz="700" dirty="0" err="1">
                <a:latin typeface="+mj-lt"/>
              </a:rPr>
              <a:t>perform</a:t>
            </a:r>
            <a:r>
              <a:rPr lang="pt-BR" sz="700" dirty="0">
                <a:latin typeface="+mj-lt"/>
              </a:rPr>
              <a:t> PMP </a:t>
            </a:r>
            <a:r>
              <a:rPr lang="pt-BR" sz="700" dirty="0" err="1">
                <a:latin typeface="+mj-lt"/>
              </a:rPr>
              <a:t>activitiesi</a:t>
            </a:r>
            <a:r>
              <a:rPr lang="pt-BR" sz="700" dirty="0">
                <a:latin typeface="+mj-lt"/>
              </a:rPr>
              <a:t>) Komatsu </a:t>
            </a:r>
            <a:r>
              <a:rPr lang="pt-BR" sz="700" dirty="0" err="1">
                <a:latin typeface="+mj-lt"/>
              </a:rPr>
              <a:t>Genuine</a:t>
            </a:r>
            <a:r>
              <a:rPr lang="pt-BR" sz="700" dirty="0">
                <a:latin typeface="+mj-lt"/>
              </a:rPr>
              <a:t> </a:t>
            </a:r>
            <a:r>
              <a:rPr lang="pt-BR" sz="700" dirty="0" err="1">
                <a:latin typeface="+mj-lt"/>
              </a:rPr>
              <a:t>Parts</a:t>
            </a:r>
            <a:r>
              <a:rPr lang="pt-BR" sz="700" dirty="0">
                <a:latin typeface="+mj-lt"/>
              </a:rPr>
              <a:t> (performance </a:t>
            </a:r>
            <a:r>
              <a:rPr lang="pt-BR" sz="700" dirty="0" err="1">
                <a:latin typeface="+mj-lt"/>
              </a:rPr>
              <a:t>assurance</a:t>
            </a:r>
            <a:r>
              <a:rPr lang="pt-BR" sz="700" dirty="0">
                <a:latin typeface="+mj-lt"/>
              </a:rPr>
              <a:t> </a:t>
            </a:r>
            <a:r>
              <a:rPr lang="pt-BR" sz="700" dirty="0" err="1">
                <a:latin typeface="+mj-lt"/>
              </a:rPr>
              <a:t>and</a:t>
            </a:r>
            <a:r>
              <a:rPr lang="pt-BR" sz="700" dirty="0">
                <a:latin typeface="+mj-lt"/>
              </a:rPr>
              <a:t> </a:t>
            </a:r>
            <a:r>
              <a:rPr lang="pt-BR" sz="700" dirty="0" err="1">
                <a:latin typeface="+mj-lt"/>
              </a:rPr>
              <a:t>traceability</a:t>
            </a:r>
            <a:r>
              <a:rPr lang="pt-BR" sz="700" dirty="0">
                <a:latin typeface="+mj-lt"/>
              </a:rPr>
              <a:t>)</a:t>
            </a:r>
          </a:p>
          <a:p>
            <a:pPr marL="228600" indent="-228600" algn="just">
              <a:spcBef>
                <a:spcPts val="0"/>
              </a:spcBef>
              <a:buFont typeface="+mj-lt"/>
              <a:buAutoNum type="alphaLcParenR"/>
            </a:pPr>
            <a:r>
              <a:rPr lang="pt-BR" sz="700" dirty="0" err="1">
                <a:latin typeface="+mj-lt"/>
              </a:rPr>
              <a:t>Registration</a:t>
            </a:r>
            <a:r>
              <a:rPr lang="pt-BR" sz="700" dirty="0">
                <a:latin typeface="+mj-lt"/>
              </a:rPr>
              <a:t> in </a:t>
            </a:r>
            <a:r>
              <a:rPr lang="pt-BR" sz="700" dirty="0" err="1">
                <a:latin typeface="+mj-lt"/>
              </a:rPr>
              <a:t>EqpCare</a:t>
            </a:r>
            <a:r>
              <a:rPr lang="pt-BR" sz="700" dirty="0">
                <a:latin typeface="+mj-lt"/>
              </a:rPr>
              <a:t> </a:t>
            </a:r>
            <a:r>
              <a:rPr lang="pt-BR" sz="700" dirty="0" err="1">
                <a:latin typeface="+mj-lt"/>
              </a:rPr>
              <a:t>and</a:t>
            </a:r>
            <a:r>
              <a:rPr lang="pt-BR" sz="700" dirty="0">
                <a:latin typeface="+mj-lt"/>
              </a:rPr>
              <a:t> </a:t>
            </a:r>
            <a:r>
              <a:rPr lang="pt-BR" sz="700" dirty="0" err="1">
                <a:latin typeface="+mj-lt"/>
              </a:rPr>
              <a:t>monitoring</a:t>
            </a:r>
            <a:r>
              <a:rPr lang="pt-BR" sz="700" dirty="0">
                <a:latin typeface="+mj-lt"/>
              </a:rPr>
              <a:t> </a:t>
            </a:r>
            <a:r>
              <a:rPr lang="pt-BR" sz="700" dirty="0" err="1">
                <a:latin typeface="+mj-lt"/>
              </a:rPr>
              <a:t>of</a:t>
            </a:r>
            <a:r>
              <a:rPr lang="pt-BR" sz="700" dirty="0">
                <a:latin typeface="+mj-lt"/>
              </a:rPr>
              <a:t> </a:t>
            </a:r>
            <a:r>
              <a:rPr lang="pt-BR" sz="700" dirty="0" err="1">
                <a:latin typeface="+mj-lt"/>
              </a:rPr>
              <a:t>critical</a:t>
            </a:r>
            <a:r>
              <a:rPr lang="pt-BR" sz="700" dirty="0">
                <a:latin typeface="+mj-lt"/>
              </a:rPr>
              <a:t> </a:t>
            </a:r>
            <a:r>
              <a:rPr lang="pt-BR" sz="700" dirty="0" err="1">
                <a:latin typeface="+mj-lt"/>
              </a:rPr>
              <a:t>events</a:t>
            </a:r>
            <a:r>
              <a:rPr lang="pt-BR" sz="700" dirty="0">
                <a:latin typeface="+mj-lt"/>
              </a:rPr>
              <a:t>, </a:t>
            </a:r>
            <a:r>
              <a:rPr lang="pt-BR" sz="700" dirty="0" err="1">
                <a:latin typeface="+mj-lt"/>
              </a:rPr>
              <a:t>campaigns</a:t>
            </a:r>
            <a:r>
              <a:rPr lang="pt-BR" sz="700" dirty="0">
                <a:latin typeface="+mj-lt"/>
              </a:rPr>
              <a:t>, </a:t>
            </a:r>
            <a:r>
              <a:rPr lang="pt-BR" sz="700" dirty="0" err="1">
                <a:latin typeface="+mj-lt"/>
              </a:rPr>
              <a:t>and</a:t>
            </a:r>
            <a:r>
              <a:rPr lang="pt-BR" sz="700" dirty="0">
                <a:latin typeface="+mj-lt"/>
              </a:rPr>
              <a:t> </a:t>
            </a:r>
            <a:r>
              <a:rPr lang="pt-BR" sz="700" dirty="0" err="1">
                <a:latin typeface="+mj-lt"/>
              </a:rPr>
              <a:t>improvements</a:t>
            </a:r>
            <a:endParaRPr sz="700" dirty="0">
              <a:latin typeface="+mj-lt"/>
            </a:endParaRPr>
          </a:p>
        </p:txBody>
      </p:sp>
      <p:sp>
        <p:nvSpPr>
          <p:cNvPr id="48" name="Text Placeholder 2">
            <a:extLst>
              <a:ext uri="{FF2B5EF4-FFF2-40B4-BE49-F238E27FC236}">
                <a16:creationId xmlns:a16="http://schemas.microsoft.com/office/drawing/2014/main" id="{F2428B13-B99B-D52E-55FF-9E35E2900C23}"/>
              </a:ext>
            </a:extLst>
          </p:cNvPr>
          <p:cNvSpPr txBox="1">
            <a:spLocks/>
          </p:cNvSpPr>
          <p:nvPr/>
        </p:nvSpPr>
        <p:spPr>
          <a:xfrm>
            <a:off x="84786" y="3204763"/>
            <a:ext cx="2708260" cy="590339"/>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en-US" sz="700" dirty="0">
                <a:latin typeface="+mj-lt"/>
              </a:rPr>
              <a:t>Komatsu Genuine Parts (performance assurance and traceability).Registration in </a:t>
            </a:r>
            <a:r>
              <a:rPr lang="en-US" sz="700" dirty="0" err="1">
                <a:latin typeface="+mj-lt"/>
              </a:rPr>
              <a:t>EqpCare</a:t>
            </a:r>
            <a:r>
              <a:rPr lang="en-US" sz="700" dirty="0">
                <a:latin typeface="+mj-lt"/>
              </a:rPr>
              <a:t> (all critical events, campaigns, and improvements).Dealer responsibilities: process audits, advanced technical support, training.</a:t>
            </a:r>
            <a:r>
              <a:rPr sz="700" dirty="0">
                <a:latin typeface="+mj-lt"/>
              </a:rPr>
              <a:t>.</a:t>
            </a:r>
          </a:p>
        </p:txBody>
      </p:sp>
      <p:sp>
        <p:nvSpPr>
          <p:cNvPr id="51" name="Text Placeholder 2">
            <a:extLst>
              <a:ext uri="{FF2B5EF4-FFF2-40B4-BE49-F238E27FC236}">
                <a16:creationId xmlns:a16="http://schemas.microsoft.com/office/drawing/2014/main" id="{81E9989B-5742-5035-C8AB-9A45A85F5FF6}"/>
              </a:ext>
            </a:extLst>
          </p:cNvPr>
          <p:cNvSpPr txBox="1">
            <a:spLocks/>
          </p:cNvSpPr>
          <p:nvPr/>
        </p:nvSpPr>
        <p:spPr>
          <a:xfrm>
            <a:off x="2824526" y="2383799"/>
            <a:ext cx="2951174" cy="1535055"/>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en-US" sz="700" dirty="0">
                <a:latin typeface="+mj-lt"/>
              </a:rPr>
              <a:t>I do not want a maintenance contract with the Dealer </a:t>
            </a:r>
          </a:p>
          <a:p>
            <a:pPr marL="171450" indent="-171450" algn="just">
              <a:spcBef>
                <a:spcPts val="0"/>
              </a:spcBef>
              <a:buFont typeface="Arial" panose="020B0604020202020204" pitchFamily="34" charset="0"/>
              <a:buChar char="•"/>
            </a:pPr>
            <a:r>
              <a:rPr lang="en-US" sz="700" dirty="0">
                <a:latin typeface="+mj-lt"/>
              </a:rPr>
              <a:t>In‑house operation without Komatsu supervision.</a:t>
            </a:r>
          </a:p>
          <a:p>
            <a:pPr marL="171450" indent="-171450" algn="just">
              <a:spcBef>
                <a:spcPts val="0"/>
              </a:spcBef>
              <a:buFont typeface="Arial" panose="020B0604020202020204" pitchFamily="34" charset="0"/>
              <a:buChar char="•"/>
            </a:pPr>
            <a:r>
              <a:rPr lang="en-US" sz="700" b="1" dirty="0">
                <a:latin typeface="+mj-lt"/>
              </a:rPr>
              <a:t>Genuine Parts </a:t>
            </a:r>
            <a:r>
              <a:rPr lang="en-US" sz="700" dirty="0">
                <a:latin typeface="+mj-lt"/>
              </a:rPr>
              <a:t>– Mandatory Use of Komatsu Genuine Parts as a technical requirement of the plan, and the customer must maintain a minimum stock level as recommended by the Engineer + MPPS.</a:t>
            </a:r>
          </a:p>
          <a:p>
            <a:pPr marL="171450" indent="-171450" algn="just">
              <a:spcBef>
                <a:spcPts val="0"/>
              </a:spcBef>
              <a:buFont typeface="Arial" panose="020B0604020202020204" pitchFamily="34" charset="0"/>
              <a:buChar char="•"/>
            </a:pPr>
            <a:r>
              <a:rPr lang="en-US" sz="700" b="1" i="1" dirty="0">
                <a:latin typeface="+mj-lt"/>
              </a:rPr>
              <a:t>Prerequisites + (HC‑KBI reinforcement)</a:t>
            </a:r>
            <a:r>
              <a:rPr lang="en-US" sz="700" i="1" dirty="0">
                <a:latin typeface="+mj-lt"/>
              </a:rPr>
              <a:t>:</a:t>
            </a:r>
          </a:p>
          <a:p>
            <a:pPr algn="just">
              <a:spcBef>
                <a:spcPts val="0"/>
              </a:spcBef>
            </a:pPr>
            <a:r>
              <a:rPr lang="en-US" sz="700" b="1" i="1" dirty="0">
                <a:latin typeface="+mj-lt"/>
              </a:rPr>
              <a:t>Attention</a:t>
            </a:r>
            <a:r>
              <a:rPr lang="en-US" sz="700" i="1" dirty="0">
                <a:latin typeface="+mj-lt"/>
              </a:rPr>
              <a:t> – Direct KBI ↔ Customer interface</a:t>
            </a:r>
          </a:p>
          <a:p>
            <a:pPr marL="171450" indent="-171450" algn="just">
              <a:spcBef>
                <a:spcPts val="0"/>
              </a:spcBef>
              <a:buFont typeface="Courier New" panose="02070309020205020404" pitchFamily="49" charset="0"/>
              <a:buChar char="o"/>
            </a:pPr>
            <a:r>
              <a:rPr lang="en-US" sz="700" i="1" dirty="0">
                <a:latin typeface="+mj-lt"/>
              </a:rPr>
              <a:t>Direct technical relationship between KBI and the customer, without Dealer mediation.</a:t>
            </a:r>
          </a:p>
          <a:p>
            <a:pPr marL="171450" indent="-171450" algn="just">
              <a:spcBef>
                <a:spcPts val="0"/>
              </a:spcBef>
              <a:buFont typeface="Courier New" panose="02070309020205020404" pitchFamily="49" charset="0"/>
              <a:buChar char="o"/>
            </a:pPr>
            <a:r>
              <a:rPr lang="en-US" sz="700" i="1" dirty="0">
                <a:latin typeface="+mj-lt"/>
              </a:rPr>
              <a:t>High probability of loss of traceability due to the lack of structured records (PMs, inspections, events).</a:t>
            </a:r>
          </a:p>
          <a:p>
            <a:pPr marL="171450" indent="-171450" algn="just">
              <a:spcBef>
                <a:spcPts val="0"/>
              </a:spcBef>
              <a:buFont typeface="Courier New" panose="02070309020205020404" pitchFamily="49" charset="0"/>
              <a:buChar char="o"/>
            </a:pPr>
            <a:r>
              <a:rPr lang="en-US" sz="700" i="1" dirty="0">
                <a:latin typeface="+mj-lt"/>
              </a:rPr>
              <a:t>Warranty provision and technical liability risk arising from customer decisions that do not follow Komatsu methodology.</a:t>
            </a:r>
            <a:endParaRPr sz="700" i="1" dirty="0">
              <a:latin typeface="+mj-lt"/>
            </a:endParaRPr>
          </a:p>
        </p:txBody>
      </p:sp>
      <p:sp>
        <p:nvSpPr>
          <p:cNvPr id="52" name="Text Placeholder 2">
            <a:extLst>
              <a:ext uri="{FF2B5EF4-FFF2-40B4-BE49-F238E27FC236}">
                <a16:creationId xmlns:a16="http://schemas.microsoft.com/office/drawing/2014/main" id="{D9FBD504-FFD2-3996-3F16-32CC8C44846C}"/>
              </a:ext>
            </a:extLst>
          </p:cNvPr>
          <p:cNvSpPr txBox="1">
            <a:spLocks/>
          </p:cNvSpPr>
          <p:nvPr/>
        </p:nvSpPr>
        <p:spPr>
          <a:xfrm>
            <a:off x="5847278" y="2246792"/>
            <a:ext cx="3256056" cy="1616477"/>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pt-BR" sz="700" dirty="0">
                <a:latin typeface="+mj-lt"/>
              </a:rPr>
              <a:t>The </a:t>
            </a:r>
            <a:r>
              <a:rPr lang="pt-BR" sz="700" dirty="0" err="1">
                <a:latin typeface="+mj-lt"/>
              </a:rPr>
              <a:t>customer</a:t>
            </a:r>
            <a:r>
              <a:rPr lang="pt-BR" sz="700" dirty="0">
                <a:latin typeface="+mj-lt"/>
              </a:rPr>
              <a:t> </a:t>
            </a:r>
            <a:r>
              <a:rPr lang="pt-BR" sz="700" dirty="0" err="1">
                <a:latin typeface="+mj-lt"/>
              </a:rPr>
              <a:t>performs</a:t>
            </a:r>
            <a:r>
              <a:rPr lang="pt-BR" sz="700" dirty="0">
                <a:latin typeface="+mj-lt"/>
              </a:rPr>
              <a:t> 100% </a:t>
            </a:r>
            <a:r>
              <a:rPr lang="pt-BR" sz="700" dirty="0" err="1">
                <a:latin typeface="+mj-lt"/>
              </a:rPr>
              <a:t>of</a:t>
            </a:r>
            <a:r>
              <a:rPr lang="pt-BR" sz="700" dirty="0">
                <a:latin typeface="+mj-lt"/>
              </a:rPr>
              <a:t> </a:t>
            </a:r>
            <a:r>
              <a:rPr lang="pt-BR" sz="700" dirty="0" err="1">
                <a:latin typeface="+mj-lt"/>
              </a:rPr>
              <a:t>the</a:t>
            </a:r>
            <a:r>
              <a:rPr lang="pt-BR" sz="700" dirty="0">
                <a:latin typeface="+mj-lt"/>
              </a:rPr>
              <a:t> </a:t>
            </a:r>
            <a:r>
              <a:rPr lang="pt-BR" sz="700" dirty="0" err="1">
                <a:latin typeface="+mj-lt"/>
              </a:rPr>
              <a:t>maintenance</a:t>
            </a:r>
            <a:r>
              <a:rPr lang="pt-BR" sz="700" dirty="0">
                <a:latin typeface="+mj-lt"/>
              </a:rPr>
              <a:t> (PMs, </a:t>
            </a:r>
            <a:r>
              <a:rPr lang="pt-BR" sz="700" dirty="0" err="1">
                <a:latin typeface="+mj-lt"/>
              </a:rPr>
              <a:t>corrective</a:t>
            </a:r>
            <a:r>
              <a:rPr lang="pt-BR" sz="700" dirty="0">
                <a:latin typeface="+mj-lt"/>
              </a:rPr>
              <a:t> </a:t>
            </a:r>
            <a:r>
              <a:rPr lang="pt-BR" sz="700" dirty="0" err="1">
                <a:latin typeface="+mj-lt"/>
              </a:rPr>
              <a:t>repairs</a:t>
            </a:r>
            <a:r>
              <a:rPr lang="pt-BR" sz="700" dirty="0">
                <a:latin typeface="+mj-lt"/>
              </a:rPr>
              <a:t>, </a:t>
            </a:r>
            <a:r>
              <a:rPr lang="pt-BR" sz="700" dirty="0" err="1">
                <a:latin typeface="+mj-lt"/>
              </a:rPr>
              <a:t>and</a:t>
            </a:r>
            <a:r>
              <a:rPr lang="pt-BR" sz="700" dirty="0">
                <a:latin typeface="+mj-lt"/>
              </a:rPr>
              <a:t> </a:t>
            </a:r>
            <a:r>
              <a:rPr lang="pt-BR" sz="700" dirty="0" err="1">
                <a:latin typeface="+mj-lt"/>
              </a:rPr>
              <a:t>inspections</a:t>
            </a:r>
            <a:r>
              <a:rPr lang="pt-BR" sz="700" dirty="0">
                <a:latin typeface="+mj-lt"/>
              </a:rPr>
              <a:t>), </a:t>
            </a:r>
            <a:r>
              <a:rPr lang="pt-BR" sz="700" dirty="0" err="1">
                <a:latin typeface="+mj-lt"/>
              </a:rPr>
              <a:t>while</a:t>
            </a:r>
            <a:r>
              <a:rPr lang="pt-BR" sz="700" dirty="0">
                <a:latin typeface="+mj-lt"/>
              </a:rPr>
              <a:t> Komatsu </a:t>
            </a:r>
            <a:r>
              <a:rPr lang="pt-BR" sz="700" dirty="0" err="1">
                <a:latin typeface="+mj-lt"/>
              </a:rPr>
              <a:t>provides</a:t>
            </a:r>
            <a:r>
              <a:rPr lang="pt-BR" sz="700" dirty="0">
                <a:latin typeface="+mj-lt"/>
              </a:rPr>
              <a:t> </a:t>
            </a:r>
            <a:r>
              <a:rPr lang="pt-BR" sz="700" dirty="0" err="1">
                <a:latin typeface="+mj-lt"/>
              </a:rPr>
              <a:t>remote</a:t>
            </a:r>
            <a:r>
              <a:rPr lang="pt-BR" sz="700" dirty="0">
                <a:latin typeface="+mj-lt"/>
              </a:rPr>
              <a:t> </a:t>
            </a:r>
            <a:r>
              <a:rPr lang="pt-BR" sz="700" dirty="0" err="1">
                <a:latin typeface="+mj-lt"/>
              </a:rPr>
              <a:t>technical</a:t>
            </a:r>
            <a:r>
              <a:rPr lang="pt-BR" sz="700" dirty="0">
                <a:latin typeface="+mj-lt"/>
              </a:rPr>
              <a:t> </a:t>
            </a:r>
            <a:r>
              <a:rPr lang="pt-BR" sz="700" dirty="0" err="1">
                <a:latin typeface="+mj-lt"/>
              </a:rPr>
              <a:t>supervision</a:t>
            </a:r>
            <a:r>
              <a:rPr lang="pt-BR" sz="700" dirty="0">
                <a:latin typeface="+mj-lt"/>
              </a:rPr>
              <a:t> </a:t>
            </a:r>
            <a:r>
              <a:rPr lang="pt-BR" sz="700" dirty="0" err="1">
                <a:latin typeface="+mj-lt"/>
              </a:rPr>
              <a:t>and</a:t>
            </a:r>
            <a:r>
              <a:rPr lang="pt-BR" sz="700" dirty="0">
                <a:latin typeface="+mj-lt"/>
              </a:rPr>
              <a:t> </a:t>
            </a:r>
            <a:r>
              <a:rPr lang="pt-BR" sz="700" dirty="0" err="1">
                <a:latin typeface="+mj-lt"/>
              </a:rPr>
              <a:t>data‑based</a:t>
            </a:r>
            <a:r>
              <a:rPr lang="pt-BR" sz="700" dirty="0">
                <a:latin typeface="+mj-lt"/>
              </a:rPr>
              <a:t> </a:t>
            </a:r>
            <a:r>
              <a:rPr lang="pt-BR" sz="700" dirty="0" err="1">
                <a:latin typeface="+mj-lt"/>
              </a:rPr>
              <a:t>governance</a:t>
            </a:r>
            <a:r>
              <a:rPr lang="pt-BR" sz="700" dirty="0">
                <a:latin typeface="+mj-lt"/>
              </a:rPr>
              <a:t>.</a:t>
            </a:r>
          </a:p>
          <a:p>
            <a:pPr algn="just">
              <a:spcBef>
                <a:spcPts val="0"/>
              </a:spcBef>
            </a:pPr>
            <a:r>
              <a:rPr lang="pt-BR" sz="700" dirty="0">
                <a:latin typeface="+mj-lt"/>
              </a:rPr>
              <a:t>Remote </a:t>
            </a:r>
            <a:r>
              <a:rPr lang="pt-BR" sz="700" dirty="0" err="1">
                <a:latin typeface="+mj-lt"/>
              </a:rPr>
              <a:t>Technical</a:t>
            </a:r>
            <a:r>
              <a:rPr lang="pt-BR" sz="700" dirty="0">
                <a:latin typeface="+mj-lt"/>
              </a:rPr>
              <a:t> </a:t>
            </a:r>
            <a:r>
              <a:rPr lang="pt-BR" sz="700" dirty="0" err="1">
                <a:latin typeface="+mj-lt"/>
              </a:rPr>
              <a:t>Supervision</a:t>
            </a:r>
            <a:r>
              <a:rPr lang="pt-BR" sz="700" dirty="0">
                <a:latin typeface="+mj-lt"/>
              </a:rPr>
              <a:t> – Field </a:t>
            </a:r>
            <a:r>
              <a:rPr lang="pt-BR" sz="700" dirty="0" err="1">
                <a:latin typeface="+mj-lt"/>
              </a:rPr>
              <a:t>Engineer</a:t>
            </a:r>
            <a:r>
              <a:rPr lang="pt-BR" sz="700" dirty="0">
                <a:latin typeface="+mj-lt"/>
              </a:rPr>
              <a:t> (BackOffice)</a:t>
            </a:r>
          </a:p>
          <a:p>
            <a:pPr marL="171450" indent="-171450" algn="just">
              <a:spcBef>
                <a:spcPts val="0"/>
              </a:spcBef>
              <a:buFont typeface="Courier New" panose="02070309020205020404" pitchFamily="49" charset="0"/>
              <a:buChar char="o"/>
            </a:pPr>
            <a:r>
              <a:rPr lang="pt-BR" sz="700" i="1" dirty="0" err="1">
                <a:latin typeface="+mj-lt"/>
              </a:rPr>
              <a:t>Mandatory</a:t>
            </a:r>
            <a:r>
              <a:rPr lang="pt-BR" sz="700" i="1" dirty="0">
                <a:latin typeface="+mj-lt"/>
              </a:rPr>
              <a:t> </a:t>
            </a:r>
            <a:r>
              <a:rPr lang="pt-BR" sz="700" i="1" dirty="0" err="1">
                <a:latin typeface="+mj-lt"/>
              </a:rPr>
              <a:t>Activity</a:t>
            </a:r>
            <a:r>
              <a:rPr lang="pt-BR" sz="700" i="1" dirty="0">
                <a:latin typeface="+mj-lt"/>
              </a:rPr>
              <a:t> Records (</a:t>
            </a:r>
            <a:r>
              <a:rPr lang="pt-BR" sz="700" i="1" dirty="0" err="1">
                <a:latin typeface="+mj-lt"/>
              </a:rPr>
              <a:t>Customer</a:t>
            </a:r>
            <a:r>
              <a:rPr lang="pt-BR" sz="700" i="1" dirty="0">
                <a:latin typeface="+mj-lt"/>
              </a:rPr>
              <a:t>):</a:t>
            </a:r>
          </a:p>
          <a:p>
            <a:pPr marL="171450" indent="-171450" algn="just">
              <a:spcBef>
                <a:spcPts val="0"/>
              </a:spcBef>
              <a:buFont typeface="Courier New" panose="02070309020205020404" pitchFamily="49" charset="0"/>
              <a:buChar char="o"/>
            </a:pPr>
            <a:r>
              <a:rPr lang="pt-BR" sz="700" i="1" dirty="0">
                <a:latin typeface="+mj-lt"/>
              </a:rPr>
              <a:t>MTA – </a:t>
            </a:r>
            <a:r>
              <a:rPr lang="pt-BR" sz="700" i="1" dirty="0" err="1">
                <a:latin typeface="+mj-lt"/>
              </a:rPr>
              <a:t>task</a:t>
            </a:r>
            <a:r>
              <a:rPr lang="pt-BR" sz="700" i="1" dirty="0">
                <a:latin typeface="+mj-lt"/>
              </a:rPr>
              <a:t> </a:t>
            </a:r>
            <a:r>
              <a:rPr lang="pt-BR" sz="700" i="1" dirty="0" err="1">
                <a:latin typeface="+mj-lt"/>
              </a:rPr>
              <a:t>registration</a:t>
            </a:r>
            <a:endParaRPr lang="pt-BR" sz="700" i="1" dirty="0">
              <a:latin typeface="+mj-lt"/>
            </a:endParaRPr>
          </a:p>
          <a:p>
            <a:pPr marL="171450" indent="-171450" algn="just">
              <a:spcBef>
                <a:spcPts val="0"/>
              </a:spcBef>
              <a:buFont typeface="Courier New" panose="02070309020205020404" pitchFamily="49" charset="0"/>
              <a:buChar char="o"/>
            </a:pPr>
            <a:r>
              <a:rPr lang="pt-BR" sz="700" i="1" dirty="0">
                <a:latin typeface="+mj-lt"/>
              </a:rPr>
              <a:t>SSA – </a:t>
            </a:r>
            <a:r>
              <a:rPr lang="pt-BR" sz="700" i="1" dirty="0" err="1">
                <a:latin typeface="+mj-lt"/>
              </a:rPr>
              <a:t>daily</a:t>
            </a:r>
            <a:r>
              <a:rPr lang="pt-BR" sz="700" i="1" dirty="0">
                <a:latin typeface="+mj-lt"/>
              </a:rPr>
              <a:t> </a:t>
            </a:r>
            <a:r>
              <a:rPr lang="pt-BR" sz="700" i="1" dirty="0" err="1">
                <a:latin typeface="+mj-lt"/>
              </a:rPr>
              <a:t>inspections</a:t>
            </a:r>
            <a:endParaRPr lang="pt-BR" sz="700" i="1" dirty="0">
              <a:latin typeface="+mj-lt"/>
            </a:endParaRPr>
          </a:p>
          <a:p>
            <a:pPr marL="171450" indent="-171450" algn="just">
              <a:spcBef>
                <a:spcPts val="0"/>
              </a:spcBef>
              <a:buFont typeface="Courier New" panose="02070309020205020404" pitchFamily="49" charset="0"/>
              <a:buChar char="o"/>
            </a:pPr>
            <a:r>
              <a:rPr lang="pt-BR" sz="700" i="1" dirty="0">
                <a:latin typeface="+mj-lt"/>
              </a:rPr>
              <a:t>ASSA – assessments (</a:t>
            </a:r>
            <a:r>
              <a:rPr lang="pt-BR" sz="700" i="1" dirty="0" err="1">
                <a:latin typeface="+mj-lt"/>
              </a:rPr>
              <a:t>structural</a:t>
            </a:r>
            <a:r>
              <a:rPr lang="pt-BR" sz="700" i="1" dirty="0">
                <a:latin typeface="+mj-lt"/>
              </a:rPr>
              <a:t> / </a:t>
            </a:r>
            <a:r>
              <a:rPr lang="pt-BR" sz="700" i="1" dirty="0" err="1">
                <a:latin typeface="+mj-lt"/>
              </a:rPr>
              <a:t>systemic</a:t>
            </a:r>
            <a:r>
              <a:rPr lang="pt-BR" sz="700" i="1" dirty="0">
                <a:latin typeface="+mj-lt"/>
              </a:rPr>
              <a:t>)</a:t>
            </a:r>
          </a:p>
          <a:p>
            <a:pPr algn="just">
              <a:spcBef>
                <a:spcPts val="0"/>
              </a:spcBef>
            </a:pPr>
            <a:r>
              <a:rPr lang="pt-BR" sz="700" dirty="0" err="1">
                <a:latin typeface="+mj-lt"/>
              </a:rPr>
              <a:t>Predictive</a:t>
            </a:r>
            <a:r>
              <a:rPr lang="pt-BR" sz="700" dirty="0">
                <a:latin typeface="+mj-lt"/>
              </a:rPr>
              <a:t> </a:t>
            </a:r>
            <a:r>
              <a:rPr lang="pt-BR" sz="700" dirty="0" err="1">
                <a:latin typeface="+mj-lt"/>
              </a:rPr>
              <a:t>and</a:t>
            </a:r>
            <a:r>
              <a:rPr lang="pt-BR" sz="700" dirty="0">
                <a:latin typeface="+mj-lt"/>
              </a:rPr>
              <a:t> </a:t>
            </a:r>
            <a:r>
              <a:rPr lang="pt-BR" sz="700" dirty="0" err="1">
                <a:latin typeface="+mj-lt"/>
              </a:rPr>
              <a:t>Continuous</a:t>
            </a:r>
            <a:r>
              <a:rPr lang="pt-BR" sz="700" dirty="0">
                <a:latin typeface="+mj-lt"/>
              </a:rPr>
              <a:t> </a:t>
            </a:r>
            <a:r>
              <a:rPr lang="pt-BR" sz="700" dirty="0" err="1">
                <a:latin typeface="+mj-lt"/>
              </a:rPr>
              <a:t>Monitoring</a:t>
            </a:r>
            <a:r>
              <a:rPr lang="pt-BR" sz="700" dirty="0">
                <a:latin typeface="+mj-lt"/>
              </a:rPr>
              <a:t>: KOWA / </a:t>
            </a:r>
            <a:r>
              <a:rPr lang="pt-BR" sz="700" dirty="0" err="1">
                <a:latin typeface="+mj-lt"/>
              </a:rPr>
              <a:t>KomtraxPerformance</a:t>
            </a:r>
            <a:r>
              <a:rPr lang="pt-BR" sz="700" dirty="0">
                <a:latin typeface="+mj-lt"/>
              </a:rPr>
              <a:t> </a:t>
            </a:r>
            <a:r>
              <a:rPr lang="pt-BR" sz="700" dirty="0" err="1">
                <a:latin typeface="+mj-lt"/>
              </a:rPr>
              <a:t>Metrics</a:t>
            </a:r>
            <a:r>
              <a:rPr lang="pt-BR" sz="700" dirty="0">
                <a:latin typeface="+mj-lt"/>
              </a:rPr>
              <a:t> </a:t>
            </a:r>
            <a:r>
              <a:rPr lang="pt-BR" sz="700" dirty="0" err="1">
                <a:latin typeface="+mj-lt"/>
              </a:rPr>
              <a:t>presented</a:t>
            </a:r>
            <a:r>
              <a:rPr lang="pt-BR" sz="700" dirty="0">
                <a:latin typeface="+mj-lt"/>
              </a:rPr>
              <a:t> </a:t>
            </a:r>
            <a:r>
              <a:rPr lang="pt-BR" sz="700" dirty="0" err="1">
                <a:latin typeface="+mj-lt"/>
              </a:rPr>
              <a:t>monthly</a:t>
            </a:r>
            <a:r>
              <a:rPr lang="pt-BR" sz="700" dirty="0">
                <a:latin typeface="+mj-lt"/>
              </a:rPr>
              <a:t>, </a:t>
            </a:r>
            <a:r>
              <a:rPr lang="pt-BR" sz="700" dirty="0" err="1">
                <a:latin typeface="+mj-lt"/>
              </a:rPr>
              <a:t>with</a:t>
            </a:r>
            <a:r>
              <a:rPr lang="pt-BR" sz="700" dirty="0">
                <a:latin typeface="+mj-lt"/>
              </a:rPr>
              <a:t> </a:t>
            </a:r>
            <a:r>
              <a:rPr lang="pt-BR" sz="700" dirty="0" err="1">
                <a:latin typeface="+mj-lt"/>
              </a:rPr>
              <a:t>action</a:t>
            </a:r>
            <a:r>
              <a:rPr lang="pt-BR" sz="700" dirty="0">
                <a:latin typeface="+mj-lt"/>
              </a:rPr>
              <a:t> </a:t>
            </a:r>
            <a:r>
              <a:rPr lang="pt-BR" sz="700" dirty="0" err="1">
                <a:latin typeface="+mj-lt"/>
              </a:rPr>
              <a:t>plans</a:t>
            </a:r>
            <a:r>
              <a:rPr lang="pt-BR" sz="700" dirty="0">
                <a:latin typeface="+mj-lt"/>
              </a:rPr>
              <a:t> for KPI </a:t>
            </a:r>
            <a:r>
              <a:rPr lang="pt-BR" sz="700" dirty="0" err="1">
                <a:latin typeface="+mj-lt"/>
              </a:rPr>
              <a:t>improvement</a:t>
            </a:r>
            <a:endParaRPr lang="pt-BR" sz="700" dirty="0">
              <a:latin typeface="+mj-lt"/>
            </a:endParaRPr>
          </a:p>
          <a:p>
            <a:pPr marL="171450" indent="-171450" algn="just">
              <a:spcBef>
                <a:spcPts val="0"/>
              </a:spcBef>
              <a:buFont typeface="Courier New" panose="02070309020205020404" pitchFamily="49" charset="0"/>
              <a:buChar char="o"/>
            </a:pPr>
            <a:r>
              <a:rPr lang="pt-BR" sz="700" i="1" dirty="0" err="1">
                <a:latin typeface="+mj-lt"/>
              </a:rPr>
              <a:t>Prerequisites</a:t>
            </a:r>
            <a:r>
              <a:rPr lang="pt-BR" sz="700" i="1" dirty="0">
                <a:latin typeface="+mj-lt"/>
              </a:rPr>
              <a:t> + (HC‑KBI </a:t>
            </a:r>
            <a:r>
              <a:rPr lang="pt-BR" sz="700" i="1" dirty="0" err="1">
                <a:latin typeface="+mj-lt"/>
              </a:rPr>
              <a:t>reinforcement</a:t>
            </a:r>
            <a:r>
              <a:rPr lang="pt-BR" sz="700" i="1" dirty="0">
                <a:latin typeface="+mj-lt"/>
              </a:rPr>
              <a:t>): </a:t>
            </a:r>
            <a:r>
              <a:rPr lang="pt-BR" sz="700" i="1" dirty="0" err="1">
                <a:latin typeface="+mj-lt"/>
              </a:rPr>
              <a:t>Attention</a:t>
            </a:r>
            <a:r>
              <a:rPr lang="pt-BR" sz="700" i="1" dirty="0">
                <a:latin typeface="+mj-lt"/>
              </a:rPr>
              <a:t> – Direct KBI ↔ </a:t>
            </a:r>
            <a:r>
              <a:rPr lang="pt-BR" sz="700" i="1" dirty="0" err="1">
                <a:latin typeface="+mj-lt"/>
              </a:rPr>
              <a:t>Customer</a:t>
            </a:r>
            <a:r>
              <a:rPr lang="pt-BR" sz="700" i="1" dirty="0">
                <a:latin typeface="+mj-lt"/>
              </a:rPr>
              <a:t> interface</a:t>
            </a:r>
          </a:p>
          <a:p>
            <a:pPr marL="171450" indent="-171450" algn="just">
              <a:spcBef>
                <a:spcPts val="0"/>
              </a:spcBef>
              <a:buFont typeface="Courier New" panose="02070309020205020404" pitchFamily="49" charset="0"/>
              <a:buChar char="o"/>
            </a:pPr>
            <a:r>
              <a:rPr lang="pt-BR" sz="700" i="1" dirty="0">
                <a:latin typeface="+mj-lt"/>
              </a:rPr>
              <a:t>Direct </a:t>
            </a:r>
            <a:r>
              <a:rPr lang="pt-BR" sz="700" i="1" dirty="0" err="1">
                <a:latin typeface="+mj-lt"/>
              </a:rPr>
              <a:t>technical</a:t>
            </a:r>
            <a:r>
              <a:rPr lang="pt-BR" sz="700" i="1" dirty="0">
                <a:latin typeface="+mj-lt"/>
              </a:rPr>
              <a:t> </a:t>
            </a:r>
            <a:r>
              <a:rPr lang="pt-BR" sz="700" i="1" dirty="0" err="1">
                <a:latin typeface="+mj-lt"/>
              </a:rPr>
              <a:t>relationship</a:t>
            </a:r>
            <a:r>
              <a:rPr lang="pt-BR" sz="700" i="1" dirty="0">
                <a:latin typeface="+mj-lt"/>
              </a:rPr>
              <a:t> </a:t>
            </a:r>
            <a:r>
              <a:rPr lang="pt-BR" sz="700" i="1" dirty="0" err="1">
                <a:latin typeface="+mj-lt"/>
              </a:rPr>
              <a:t>between</a:t>
            </a:r>
            <a:r>
              <a:rPr lang="pt-BR" sz="700" i="1" dirty="0">
                <a:latin typeface="+mj-lt"/>
              </a:rPr>
              <a:t> KBI </a:t>
            </a:r>
            <a:r>
              <a:rPr lang="pt-BR" sz="700" i="1" dirty="0" err="1">
                <a:latin typeface="+mj-lt"/>
              </a:rPr>
              <a:t>and</a:t>
            </a:r>
            <a:r>
              <a:rPr lang="pt-BR" sz="700" i="1" dirty="0">
                <a:latin typeface="+mj-lt"/>
              </a:rPr>
              <a:t> </a:t>
            </a:r>
            <a:r>
              <a:rPr lang="pt-BR" sz="700" i="1" dirty="0" err="1">
                <a:latin typeface="+mj-lt"/>
              </a:rPr>
              <a:t>the</a:t>
            </a:r>
            <a:r>
              <a:rPr lang="pt-BR" sz="700" i="1" dirty="0">
                <a:latin typeface="+mj-lt"/>
              </a:rPr>
              <a:t> </a:t>
            </a:r>
            <a:r>
              <a:rPr lang="pt-BR" sz="700" i="1" dirty="0" err="1">
                <a:latin typeface="+mj-lt"/>
              </a:rPr>
              <a:t>customer</a:t>
            </a:r>
            <a:r>
              <a:rPr lang="pt-BR" sz="700" i="1" dirty="0">
                <a:latin typeface="+mj-lt"/>
              </a:rPr>
              <a:t>, </a:t>
            </a:r>
            <a:r>
              <a:rPr lang="pt-BR" sz="700" i="1" dirty="0" err="1">
                <a:latin typeface="+mj-lt"/>
              </a:rPr>
              <a:t>without</a:t>
            </a:r>
            <a:r>
              <a:rPr lang="pt-BR" sz="700" i="1" dirty="0">
                <a:latin typeface="+mj-lt"/>
              </a:rPr>
              <a:t> </a:t>
            </a:r>
            <a:r>
              <a:rPr lang="pt-BR" sz="700" i="1" dirty="0" err="1">
                <a:latin typeface="+mj-lt"/>
              </a:rPr>
              <a:t>Dealer</a:t>
            </a:r>
            <a:r>
              <a:rPr lang="pt-BR" sz="700" i="1" dirty="0">
                <a:latin typeface="+mj-lt"/>
              </a:rPr>
              <a:t> </a:t>
            </a:r>
            <a:r>
              <a:rPr lang="pt-BR" sz="700" i="1" dirty="0" err="1">
                <a:latin typeface="+mj-lt"/>
              </a:rPr>
              <a:t>mediation</a:t>
            </a:r>
            <a:endParaRPr sz="700" i="1" dirty="0">
              <a:latin typeface="+mj-lt"/>
            </a:endParaRPr>
          </a:p>
        </p:txBody>
      </p:sp>
      <p:sp>
        <p:nvSpPr>
          <p:cNvPr id="53" name="Text Placeholder 2">
            <a:extLst>
              <a:ext uri="{FF2B5EF4-FFF2-40B4-BE49-F238E27FC236}">
                <a16:creationId xmlns:a16="http://schemas.microsoft.com/office/drawing/2014/main" id="{7A5D2BEB-AA20-3FCB-F365-C122A62DE262}"/>
              </a:ext>
            </a:extLst>
          </p:cNvPr>
          <p:cNvSpPr txBox="1">
            <a:spLocks/>
          </p:cNvSpPr>
          <p:nvPr/>
        </p:nvSpPr>
        <p:spPr>
          <a:xfrm>
            <a:off x="5875798" y="1280231"/>
            <a:ext cx="3227535" cy="729677"/>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sz="700" dirty="0" err="1">
                <a:latin typeface="+mj-lt"/>
              </a:rPr>
              <a:t>Conceito</a:t>
            </a:r>
            <a:r>
              <a:rPr sz="700" dirty="0">
                <a:latin typeface="+mj-lt"/>
              </a:rPr>
              <a:t> do Plano C, o </a:t>
            </a:r>
            <a:r>
              <a:rPr sz="700" dirty="0" err="1">
                <a:latin typeface="+mj-lt"/>
              </a:rPr>
              <a:t>cliente</a:t>
            </a:r>
            <a:r>
              <a:rPr sz="700" dirty="0">
                <a:latin typeface="+mj-lt"/>
              </a:rPr>
              <a:t> </a:t>
            </a:r>
            <a:r>
              <a:rPr sz="700" dirty="0" err="1">
                <a:latin typeface="+mj-lt"/>
              </a:rPr>
              <a:t>executa</a:t>
            </a:r>
            <a:r>
              <a:rPr sz="700" dirty="0">
                <a:latin typeface="+mj-lt"/>
              </a:rPr>
              <a:t> 100% da </a:t>
            </a:r>
            <a:r>
              <a:rPr sz="700" dirty="0" err="1">
                <a:latin typeface="+mj-lt"/>
              </a:rPr>
              <a:t>manutenção</a:t>
            </a:r>
            <a:r>
              <a:rPr sz="700" dirty="0">
                <a:latin typeface="+mj-lt"/>
              </a:rPr>
              <a:t>, </a:t>
            </a:r>
            <a:r>
              <a:rPr sz="700" dirty="0" err="1">
                <a:latin typeface="+mj-lt"/>
              </a:rPr>
              <a:t>incluindo</a:t>
            </a:r>
            <a:r>
              <a:rPr sz="700" dirty="0">
                <a:latin typeface="+mj-lt"/>
              </a:rPr>
              <a:t> PMs, </a:t>
            </a:r>
            <a:r>
              <a:rPr sz="700" dirty="0" err="1">
                <a:latin typeface="+mj-lt"/>
              </a:rPr>
              <a:t>corretivas</a:t>
            </a:r>
            <a:r>
              <a:rPr sz="700" dirty="0">
                <a:latin typeface="+mj-lt"/>
              </a:rPr>
              <a:t> e </a:t>
            </a:r>
            <a:r>
              <a:rPr sz="700" dirty="0" err="1">
                <a:latin typeface="+mj-lt"/>
              </a:rPr>
              <a:t>inspeções</a:t>
            </a:r>
            <a:r>
              <a:rPr sz="700" dirty="0">
                <a:latin typeface="+mj-lt"/>
              </a:rPr>
              <a:t>, </a:t>
            </a:r>
            <a:r>
              <a:rPr sz="700" dirty="0" err="1">
                <a:latin typeface="+mj-lt"/>
              </a:rPr>
              <a:t>porém</a:t>
            </a:r>
            <a:r>
              <a:rPr sz="700" dirty="0">
                <a:latin typeface="+mj-lt"/>
              </a:rPr>
              <a:t>, com a </a:t>
            </a:r>
            <a:r>
              <a:rPr sz="700" dirty="0" err="1">
                <a:latin typeface="+mj-lt"/>
              </a:rPr>
              <a:t>Supervisão</a:t>
            </a:r>
            <a:r>
              <a:rPr sz="700" dirty="0">
                <a:latin typeface="+mj-lt"/>
              </a:rPr>
              <a:t> </a:t>
            </a:r>
            <a:r>
              <a:rPr sz="700" dirty="0" err="1">
                <a:latin typeface="+mj-lt"/>
              </a:rPr>
              <a:t>técnica</a:t>
            </a:r>
            <a:r>
              <a:rPr sz="700" dirty="0">
                <a:latin typeface="+mj-lt"/>
              </a:rPr>
              <a:t> remota de um </a:t>
            </a:r>
            <a:r>
              <a:rPr sz="700" dirty="0" err="1">
                <a:latin typeface="+mj-lt"/>
              </a:rPr>
              <a:t>Engenheiro</a:t>
            </a:r>
            <a:r>
              <a:rPr sz="700" dirty="0">
                <a:latin typeface="+mj-lt"/>
              </a:rPr>
              <a:t> de Campo (BackOffice), </a:t>
            </a:r>
            <a:r>
              <a:rPr sz="700" dirty="0" err="1">
                <a:latin typeface="+mj-lt"/>
              </a:rPr>
              <a:t>requer</a:t>
            </a:r>
            <a:r>
              <a:rPr sz="700" dirty="0">
                <a:latin typeface="+mj-lt"/>
              </a:rPr>
              <a:t> Registro </a:t>
            </a:r>
            <a:r>
              <a:rPr sz="700" dirty="0" err="1">
                <a:latin typeface="+mj-lt"/>
              </a:rPr>
              <a:t>disciplinado</a:t>
            </a:r>
            <a:r>
              <a:rPr sz="700" dirty="0">
                <a:latin typeface="+mj-lt"/>
              </a:rPr>
              <a:t> das </a:t>
            </a:r>
            <a:r>
              <a:rPr sz="700" dirty="0" err="1">
                <a:latin typeface="+mj-lt"/>
              </a:rPr>
              <a:t>operações</a:t>
            </a:r>
            <a:r>
              <a:rPr sz="700" dirty="0">
                <a:latin typeface="+mj-lt"/>
              </a:rPr>
              <a:t> e </a:t>
            </a:r>
            <a:r>
              <a:rPr sz="700" dirty="0" err="1">
                <a:latin typeface="+mj-lt"/>
              </a:rPr>
              <a:t>inspeções</a:t>
            </a:r>
            <a:r>
              <a:rPr sz="700" dirty="0">
                <a:latin typeface="+mj-lt"/>
              </a:rPr>
              <a:t> </a:t>
            </a:r>
            <a:r>
              <a:rPr sz="700" dirty="0" err="1">
                <a:latin typeface="+mj-lt"/>
              </a:rPr>
              <a:t>em</a:t>
            </a:r>
            <a:r>
              <a:rPr sz="700" dirty="0">
                <a:latin typeface="+mj-lt"/>
              </a:rPr>
              <a:t> MTA + SSA + ASSA,:KOWA (</a:t>
            </a:r>
            <a:r>
              <a:rPr sz="700" dirty="0" err="1">
                <a:latin typeface="+mj-lt"/>
              </a:rPr>
              <a:t>análise</a:t>
            </a:r>
            <a:r>
              <a:rPr sz="700" dirty="0">
                <a:latin typeface="+mj-lt"/>
              </a:rPr>
              <a:t> de </a:t>
            </a:r>
            <a:r>
              <a:rPr sz="700" dirty="0" err="1">
                <a:latin typeface="+mj-lt"/>
              </a:rPr>
              <a:t>óleo</a:t>
            </a:r>
            <a:r>
              <a:rPr sz="700" dirty="0">
                <a:latin typeface="+mj-lt"/>
              </a:rPr>
              <a:t> </a:t>
            </a:r>
            <a:r>
              <a:rPr sz="700" dirty="0" err="1">
                <a:latin typeface="+mj-lt"/>
              </a:rPr>
              <a:t>preditiva</a:t>
            </a:r>
            <a:r>
              <a:rPr sz="700" dirty="0">
                <a:latin typeface="+mj-lt"/>
              </a:rPr>
              <a:t>) + </a:t>
            </a:r>
            <a:r>
              <a:rPr sz="700" dirty="0" err="1">
                <a:latin typeface="+mj-lt"/>
              </a:rPr>
              <a:t>Alarmes</a:t>
            </a:r>
            <a:r>
              <a:rPr sz="700" dirty="0">
                <a:latin typeface="+mj-lt"/>
              </a:rPr>
              <a:t> </a:t>
            </a:r>
            <a:r>
              <a:rPr sz="700" dirty="0" err="1">
                <a:latin typeface="+mj-lt"/>
              </a:rPr>
              <a:t>Komtrax</a:t>
            </a:r>
            <a:r>
              <a:rPr sz="700" dirty="0">
                <a:latin typeface="+mj-lt"/>
              </a:rPr>
              <a:t>,</a:t>
            </a:r>
          </a:p>
        </p:txBody>
      </p:sp>
      <p:sp>
        <p:nvSpPr>
          <p:cNvPr id="58" name="Text Placeholder 2">
            <a:extLst>
              <a:ext uri="{FF2B5EF4-FFF2-40B4-BE49-F238E27FC236}">
                <a16:creationId xmlns:a16="http://schemas.microsoft.com/office/drawing/2014/main" id="{932A409B-F69E-09D1-4174-1472A69B31DA}"/>
              </a:ext>
            </a:extLst>
          </p:cNvPr>
          <p:cNvSpPr txBox="1">
            <a:spLocks/>
          </p:cNvSpPr>
          <p:nvPr/>
        </p:nvSpPr>
        <p:spPr>
          <a:xfrm>
            <a:off x="2825154" y="1335235"/>
            <a:ext cx="3005699" cy="967952"/>
          </a:xfrm>
          <a:prstGeom prst="rect">
            <a:avLst/>
          </a:prstGeom>
        </p:spPr>
        <p:txBody>
          <a:bodyPr vert="horz" lIns="45720" tIns="73152" rIns="45720" bIns="45720" rtlCol="0">
            <a:noAutofit/>
          </a:bodyPr>
          <a:lstStyle>
            <a:lvl1pPr marL="0" indent="0" algn="ctr" defTabSz="90000" rtl="0" eaLnBrk="1" latinLnBrk="0" hangingPunct="1">
              <a:lnSpc>
                <a:spcPct val="100000"/>
              </a:lnSpc>
              <a:spcBef>
                <a:spcPts val="1000"/>
              </a:spcBef>
              <a:spcAft>
                <a:spcPts val="0"/>
              </a:spcAft>
              <a:buClrTx/>
              <a:buSzPct val="95000"/>
              <a:buFont typeface="Arial" panose="020B0604020202020204" pitchFamily="34" charset="0"/>
              <a:buNone/>
              <a:tabLst>
                <a:tab pos="179388" algn="l"/>
              </a:tabLst>
              <a:defRPr sz="18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pPr>
            <a:r>
              <a:rPr lang="en-US" sz="700" dirty="0">
                <a:latin typeface="+mj-lt"/>
              </a:rPr>
              <a:t>Concept of Plan B:The customer chooses not to have a maintenance contract with the Dealer and begins performing 100% of the maintenance on their own (PMs, corrective repairs, inspections, and adjustments). Komatsu acts through technical supervision, ensuring methodology, standards, and mandatory recommendations from the Field Engineer, while all operational work remains under the customer’s responsibility.</a:t>
            </a:r>
            <a:endParaRPr sz="700" dirty="0">
              <a:latin typeface="+mj-lt"/>
            </a:endParaRPr>
          </a:p>
        </p:txBody>
      </p:sp>
      <p:sp>
        <p:nvSpPr>
          <p:cNvPr id="5" name="CaixaDeTexto 4">
            <a:extLst>
              <a:ext uri="{FF2B5EF4-FFF2-40B4-BE49-F238E27FC236}">
                <a16:creationId xmlns:a16="http://schemas.microsoft.com/office/drawing/2014/main" id="{E34AF19C-CED2-CD53-943C-1CDEEB3875D5}"/>
              </a:ext>
            </a:extLst>
          </p:cNvPr>
          <p:cNvSpPr txBox="1"/>
          <p:nvPr/>
        </p:nvSpPr>
        <p:spPr>
          <a:xfrm>
            <a:off x="10038" y="543141"/>
            <a:ext cx="9146566" cy="461665"/>
          </a:xfrm>
          <a:prstGeom prst="rect">
            <a:avLst/>
          </a:prstGeom>
          <a:solidFill>
            <a:schemeClr val="accent2">
              <a:lumMod val="40000"/>
              <a:lumOff val="60000"/>
            </a:schemeClr>
          </a:solidFill>
        </p:spPr>
        <p:txBody>
          <a:bodyPr wrap="square" rtlCol="0">
            <a:spAutoFit/>
          </a:bodyPr>
          <a:lstStyle/>
          <a:p>
            <a:pPr defTabSz="90000">
              <a:buSzPct val="95000"/>
            </a:pPr>
            <a:r>
              <a:rPr lang="en-US" sz="1200" dirty="0">
                <a:latin typeface="+mj-lt"/>
              </a:rPr>
              <a:t>Overview of the fleet, operational targets, and the status of Komatsu services for the Bom Futuro customer;</a:t>
            </a:r>
            <a:endParaRPr lang="pt-BR" sz="1400" dirty="0">
              <a:latin typeface="+mj-lt"/>
            </a:endParaRPr>
          </a:p>
          <a:p>
            <a:pPr defTabSz="90000">
              <a:buSzPct val="95000"/>
            </a:pPr>
            <a:r>
              <a:rPr lang="en-US" sz="1200" dirty="0">
                <a:latin typeface="+mj-lt"/>
              </a:rPr>
              <a:t>Risks and Benefits: greater in‑person support versus reduced support with potential expansion of remote coverage.</a:t>
            </a:r>
          </a:p>
        </p:txBody>
      </p:sp>
      <p:graphicFrame>
        <p:nvGraphicFramePr>
          <p:cNvPr id="4" name="Gráfico 3">
            <a:extLst>
              <a:ext uri="{FF2B5EF4-FFF2-40B4-BE49-F238E27FC236}">
                <a16:creationId xmlns:a16="http://schemas.microsoft.com/office/drawing/2014/main" id="{CD2B2853-F2AF-663B-DE25-E300446BCAA4}"/>
              </a:ext>
            </a:extLst>
          </p:cNvPr>
          <p:cNvGraphicFramePr>
            <a:graphicFrameLocks/>
          </p:cNvGraphicFramePr>
          <p:nvPr>
            <p:extLst>
              <p:ext uri="{D42A27DB-BD31-4B8C-83A1-F6EECF244321}">
                <p14:modId xmlns:p14="http://schemas.microsoft.com/office/powerpoint/2010/main" val="775426294"/>
              </p:ext>
            </p:extLst>
          </p:nvPr>
        </p:nvGraphicFramePr>
        <p:xfrm>
          <a:off x="84785" y="3724579"/>
          <a:ext cx="2633219" cy="11318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Gráfico 6">
            <a:extLst>
              <a:ext uri="{FF2B5EF4-FFF2-40B4-BE49-F238E27FC236}">
                <a16:creationId xmlns:a16="http://schemas.microsoft.com/office/drawing/2014/main" id="{7B50DFEA-F155-44D1-AB73-635F4D6CE1FB}"/>
              </a:ext>
            </a:extLst>
          </p:cNvPr>
          <p:cNvGraphicFramePr>
            <a:graphicFrameLocks/>
          </p:cNvGraphicFramePr>
          <p:nvPr>
            <p:extLst>
              <p:ext uri="{D42A27DB-BD31-4B8C-83A1-F6EECF244321}">
                <p14:modId xmlns:p14="http://schemas.microsoft.com/office/powerpoint/2010/main" val="389306857"/>
              </p:ext>
            </p:extLst>
          </p:nvPr>
        </p:nvGraphicFramePr>
        <p:xfrm>
          <a:off x="5982622" y="3795103"/>
          <a:ext cx="3083106" cy="111979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2590B8B3-65C9-46AA-BE10-F08320A6421D}"/>
              </a:ext>
            </a:extLst>
          </p:cNvPr>
          <p:cNvGraphicFramePr>
            <a:graphicFrameLocks/>
          </p:cNvGraphicFramePr>
          <p:nvPr>
            <p:extLst>
              <p:ext uri="{D42A27DB-BD31-4B8C-83A1-F6EECF244321}">
                <p14:modId xmlns:p14="http://schemas.microsoft.com/office/powerpoint/2010/main" val="166041499"/>
              </p:ext>
            </p:extLst>
          </p:nvPr>
        </p:nvGraphicFramePr>
        <p:xfrm>
          <a:off x="2812296" y="3863268"/>
          <a:ext cx="2963395" cy="115164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782689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áfico 3">
            <a:extLst>
              <a:ext uri="{FF2B5EF4-FFF2-40B4-BE49-F238E27FC236}">
                <a16:creationId xmlns:a16="http://schemas.microsoft.com/office/drawing/2014/main" id="{CA23AD8D-08EE-4F19-A097-C3BC7CB2C4A9}"/>
              </a:ext>
            </a:extLst>
          </p:cNvPr>
          <p:cNvGraphicFramePr>
            <a:graphicFrameLocks/>
          </p:cNvGraphicFramePr>
          <p:nvPr>
            <p:extLst>
              <p:ext uri="{D42A27DB-BD31-4B8C-83A1-F6EECF244321}">
                <p14:modId xmlns:p14="http://schemas.microsoft.com/office/powerpoint/2010/main" val="1456292746"/>
              </p:ext>
            </p:extLst>
          </p:nvPr>
        </p:nvGraphicFramePr>
        <p:xfrm>
          <a:off x="57150" y="1500187"/>
          <a:ext cx="9008269" cy="3443287"/>
        </p:xfrm>
        <a:graphic>
          <a:graphicData uri="http://schemas.openxmlformats.org/drawingml/2006/chart">
            <c:chart xmlns:c="http://schemas.openxmlformats.org/drawingml/2006/chart" xmlns:r="http://schemas.openxmlformats.org/officeDocument/2006/relationships" r:id="rId2"/>
          </a:graphicData>
        </a:graphic>
      </p:graphicFrame>
      <p:sp>
        <p:nvSpPr>
          <p:cNvPr id="6" name="CaixaDeTexto 5">
            <a:extLst>
              <a:ext uri="{FF2B5EF4-FFF2-40B4-BE49-F238E27FC236}">
                <a16:creationId xmlns:a16="http://schemas.microsoft.com/office/drawing/2014/main" id="{F726A646-E761-ECD4-D6FA-76F2A68033D3}"/>
              </a:ext>
            </a:extLst>
          </p:cNvPr>
          <p:cNvSpPr txBox="1"/>
          <p:nvPr/>
        </p:nvSpPr>
        <p:spPr>
          <a:xfrm>
            <a:off x="-3573" y="38397"/>
            <a:ext cx="8947547" cy="461665"/>
          </a:xfrm>
          <a:prstGeom prst="rect">
            <a:avLst/>
          </a:prstGeom>
          <a:noFill/>
        </p:spPr>
        <p:txBody>
          <a:bodyPr wrap="square">
            <a:spAutoFit/>
          </a:bodyPr>
          <a:lstStyle>
            <a:defPPr>
              <a:defRPr lang="en-US"/>
            </a:defPPr>
            <a:lvl1pPr>
              <a:defRPr sz="2400">
                <a:solidFill>
                  <a:schemeClr val="bg1"/>
                </a:solidFill>
              </a:defRPr>
            </a:lvl1pPr>
          </a:lstStyle>
          <a:p>
            <a:r>
              <a:rPr lang="en-US" dirty="0"/>
              <a:t>Amount warranty claim by SMR (</a:t>
            </a:r>
            <a:r>
              <a:rPr lang="pt-BR" dirty="0"/>
              <a:t>CPU-Custo Unitário Produto)</a:t>
            </a:r>
            <a:endParaRPr lang="en-US" dirty="0"/>
          </a:p>
        </p:txBody>
      </p:sp>
      <p:sp>
        <p:nvSpPr>
          <p:cNvPr id="7" name="CaixaDeTexto 6">
            <a:extLst>
              <a:ext uri="{FF2B5EF4-FFF2-40B4-BE49-F238E27FC236}">
                <a16:creationId xmlns:a16="http://schemas.microsoft.com/office/drawing/2014/main" id="{9A690124-EA28-F8A9-60E2-4FD6EF2DFB3E}"/>
              </a:ext>
            </a:extLst>
          </p:cNvPr>
          <p:cNvSpPr txBox="1"/>
          <p:nvPr/>
        </p:nvSpPr>
        <p:spPr>
          <a:xfrm>
            <a:off x="10038" y="543141"/>
            <a:ext cx="9146566" cy="461665"/>
          </a:xfrm>
          <a:prstGeom prst="rect">
            <a:avLst/>
          </a:prstGeom>
          <a:solidFill>
            <a:schemeClr val="accent2">
              <a:lumMod val="40000"/>
              <a:lumOff val="60000"/>
            </a:schemeClr>
          </a:solidFill>
        </p:spPr>
        <p:txBody>
          <a:bodyPr wrap="square" rtlCol="0">
            <a:spAutoFit/>
          </a:bodyPr>
          <a:lstStyle/>
          <a:p>
            <a:pPr defTabSz="90000">
              <a:buSzPct val="95000"/>
            </a:pPr>
            <a:r>
              <a:rPr lang="en-US" sz="1200" dirty="0">
                <a:latin typeface="+mj-lt"/>
              </a:rPr>
              <a:t>Comparison of projected warranty costs per machine across conservative, realistic, and aggressive scenarios.</a:t>
            </a:r>
          </a:p>
          <a:p>
            <a:pPr defTabSz="90000">
              <a:buSzPct val="95000"/>
            </a:pPr>
            <a:r>
              <a:rPr lang="en-US" sz="1200" dirty="0">
                <a:latin typeface="+mj-lt"/>
              </a:rPr>
              <a:t>Highlights cost variation among models based on different operational and failure‑rate assumptions.</a:t>
            </a:r>
          </a:p>
        </p:txBody>
      </p:sp>
    </p:spTree>
    <p:extLst>
      <p:ext uri="{BB962C8B-B14F-4D97-AF65-F5344CB8AC3E}">
        <p14:creationId xmlns:p14="http://schemas.microsoft.com/office/powerpoint/2010/main" val="2537477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8FC5-5473-C22D-1146-EBD13278CB76}"/>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05E49EE0-849E-FE51-10E8-7FB28BD6AE2D}"/>
              </a:ext>
            </a:extLst>
          </p:cNvPr>
          <p:cNvSpPr txBox="1"/>
          <p:nvPr/>
        </p:nvSpPr>
        <p:spPr>
          <a:xfrm>
            <a:off x="84786" y="14926"/>
            <a:ext cx="9023692" cy="461665"/>
          </a:xfrm>
          <a:prstGeom prst="rect">
            <a:avLst/>
          </a:prstGeom>
          <a:noFill/>
        </p:spPr>
        <p:txBody>
          <a:bodyPr wrap="square">
            <a:spAutoFit/>
          </a:bodyPr>
          <a:lstStyle/>
          <a:p>
            <a:r>
              <a:rPr lang="pt-BR" sz="2400" dirty="0" err="1">
                <a:solidFill>
                  <a:schemeClr val="bg1"/>
                </a:solidFill>
              </a:rPr>
              <a:t>Amount</a:t>
            </a:r>
            <a:r>
              <a:rPr lang="pt-BR" sz="2400" dirty="0">
                <a:solidFill>
                  <a:schemeClr val="bg1"/>
                </a:solidFill>
              </a:rPr>
              <a:t> </a:t>
            </a:r>
            <a:r>
              <a:rPr lang="pt-BR" sz="2400" dirty="0" err="1">
                <a:solidFill>
                  <a:schemeClr val="bg1"/>
                </a:solidFill>
              </a:rPr>
              <a:t>warranty</a:t>
            </a:r>
            <a:r>
              <a:rPr lang="pt-BR" sz="2400" dirty="0">
                <a:solidFill>
                  <a:schemeClr val="bg1"/>
                </a:solidFill>
              </a:rPr>
              <a:t> </a:t>
            </a:r>
            <a:r>
              <a:rPr lang="pt-BR" sz="2400" dirty="0" err="1">
                <a:solidFill>
                  <a:schemeClr val="bg1"/>
                </a:solidFill>
              </a:rPr>
              <a:t>claim</a:t>
            </a:r>
            <a:r>
              <a:rPr lang="pt-BR" sz="2400" dirty="0">
                <a:solidFill>
                  <a:schemeClr val="bg1"/>
                </a:solidFill>
              </a:rPr>
              <a:t> </a:t>
            </a:r>
            <a:r>
              <a:rPr lang="pt-BR" sz="2400" dirty="0" err="1">
                <a:solidFill>
                  <a:schemeClr val="bg1"/>
                </a:solidFill>
              </a:rPr>
              <a:t>by</a:t>
            </a:r>
            <a:r>
              <a:rPr lang="pt-BR" sz="2400" dirty="0">
                <a:solidFill>
                  <a:schemeClr val="bg1"/>
                </a:solidFill>
              </a:rPr>
              <a:t> SMR</a:t>
            </a:r>
            <a:endParaRPr sz="2400" dirty="0">
              <a:solidFill>
                <a:schemeClr val="bg1"/>
              </a:solidFill>
            </a:endParaRPr>
          </a:p>
        </p:txBody>
      </p:sp>
      <p:sp>
        <p:nvSpPr>
          <p:cNvPr id="5" name="CaixaDeTexto 4">
            <a:extLst>
              <a:ext uri="{FF2B5EF4-FFF2-40B4-BE49-F238E27FC236}">
                <a16:creationId xmlns:a16="http://schemas.microsoft.com/office/drawing/2014/main" id="{D6050B2C-C3DD-38C8-EA8C-12CA4B457A74}"/>
              </a:ext>
            </a:extLst>
          </p:cNvPr>
          <p:cNvSpPr txBox="1"/>
          <p:nvPr/>
        </p:nvSpPr>
        <p:spPr>
          <a:xfrm>
            <a:off x="10038" y="543141"/>
            <a:ext cx="9146566" cy="646331"/>
          </a:xfrm>
          <a:prstGeom prst="rect">
            <a:avLst/>
          </a:prstGeom>
          <a:solidFill>
            <a:schemeClr val="accent2">
              <a:lumMod val="40000"/>
              <a:lumOff val="60000"/>
            </a:schemeClr>
          </a:solidFill>
        </p:spPr>
        <p:txBody>
          <a:bodyPr wrap="square" rtlCol="0">
            <a:spAutoFit/>
          </a:bodyPr>
          <a:lstStyle/>
          <a:p>
            <a:pPr defTabSz="90000">
              <a:buSzPct val="95000"/>
            </a:pPr>
            <a:r>
              <a:rPr lang="en-US" sz="1200" dirty="0">
                <a:latin typeface="+mj-lt"/>
              </a:rPr>
              <a:t>Shows the observed and projected warranty cost per operating‑hour band, enabling trend analysis up to 10,000 hours for each model.</a:t>
            </a:r>
          </a:p>
          <a:p>
            <a:pPr defTabSz="90000">
              <a:buSzPct val="95000"/>
            </a:pPr>
            <a:r>
              <a:rPr lang="en-US" sz="1200" dirty="0">
                <a:latin typeface="+mj-lt"/>
              </a:rPr>
              <a:t>Illustrates cost‑per‑hour behavior by SMR range, comparing real historical data with forward‑looking projections.</a:t>
            </a:r>
          </a:p>
        </p:txBody>
      </p:sp>
      <p:pic>
        <p:nvPicPr>
          <p:cNvPr id="7" name="Imagem 6">
            <a:extLst>
              <a:ext uri="{FF2B5EF4-FFF2-40B4-BE49-F238E27FC236}">
                <a16:creationId xmlns:a16="http://schemas.microsoft.com/office/drawing/2014/main" id="{E0AFD19A-9B6D-B056-C2A7-75E471807BE6}"/>
              </a:ext>
            </a:extLst>
          </p:cNvPr>
          <p:cNvPicPr>
            <a:picLocks noChangeAspect="1"/>
          </p:cNvPicPr>
          <p:nvPr/>
        </p:nvPicPr>
        <p:blipFill>
          <a:blip r:embed="rId3"/>
          <a:stretch>
            <a:fillRect/>
          </a:stretch>
        </p:blipFill>
        <p:spPr>
          <a:xfrm>
            <a:off x="4614797" y="1252531"/>
            <a:ext cx="4493681" cy="2370692"/>
          </a:xfrm>
          <a:prstGeom prst="rect">
            <a:avLst/>
          </a:prstGeom>
          <a:ln>
            <a:solidFill>
              <a:schemeClr val="tx1"/>
            </a:solidFill>
          </a:ln>
        </p:spPr>
      </p:pic>
      <p:pic>
        <p:nvPicPr>
          <p:cNvPr id="13" name="Imagem 12">
            <a:extLst>
              <a:ext uri="{FF2B5EF4-FFF2-40B4-BE49-F238E27FC236}">
                <a16:creationId xmlns:a16="http://schemas.microsoft.com/office/drawing/2014/main" id="{C4EDCA06-FFDE-CC97-DF5D-84969B6BFF66}"/>
              </a:ext>
            </a:extLst>
          </p:cNvPr>
          <p:cNvPicPr>
            <a:picLocks noChangeAspect="1"/>
          </p:cNvPicPr>
          <p:nvPr/>
        </p:nvPicPr>
        <p:blipFill>
          <a:blip r:embed="rId4"/>
          <a:stretch>
            <a:fillRect/>
          </a:stretch>
        </p:blipFill>
        <p:spPr>
          <a:xfrm>
            <a:off x="35522" y="1252530"/>
            <a:ext cx="4481313" cy="2370693"/>
          </a:xfrm>
          <a:prstGeom prst="rect">
            <a:avLst/>
          </a:prstGeom>
          <a:ln>
            <a:solidFill>
              <a:schemeClr val="tx1"/>
            </a:solidFill>
          </a:ln>
        </p:spPr>
      </p:pic>
    </p:spTree>
    <p:extLst>
      <p:ext uri="{BB962C8B-B14F-4D97-AF65-F5344CB8AC3E}">
        <p14:creationId xmlns:p14="http://schemas.microsoft.com/office/powerpoint/2010/main" val="1420035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A person that is standing in the sand&#10;&#10;Description automatically generated">
            <a:extLst>
              <a:ext uri="{FF2B5EF4-FFF2-40B4-BE49-F238E27FC236}">
                <a16:creationId xmlns:a16="http://schemas.microsoft.com/office/drawing/2014/main" id="{4574AB31-0BD9-4835-A7F9-FECF7A02E47C}"/>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val="0"/>
              </a:ext>
            </a:extLst>
          </a:blip>
          <a:srcRect t="10933" b="10933"/>
          <a:stretch/>
        </p:blipFill>
        <p:spPr/>
      </p:pic>
    </p:spTree>
    <p:extLst>
      <p:ext uri="{BB962C8B-B14F-4D97-AF65-F5344CB8AC3E}">
        <p14:creationId xmlns:p14="http://schemas.microsoft.com/office/powerpoint/2010/main" val="1520547380"/>
      </p:ext>
    </p:extLst>
  </p:cSld>
  <p:clrMapOvr>
    <a:masterClrMapping/>
  </p:clrMapOvr>
</p:sld>
</file>

<file path=ppt/theme/theme1.xml><?xml version="1.0" encoding="utf-8"?>
<a:theme xmlns:a="http://schemas.openxmlformats.org/drawingml/2006/main" name="Komatsu">
  <a:themeElements>
    <a:clrScheme name="Komatsu">
      <a:dk1>
        <a:srgbClr val="1B232A"/>
      </a:dk1>
      <a:lt1>
        <a:sysClr val="window" lastClr="FFFFFF"/>
      </a:lt1>
      <a:dk2>
        <a:srgbClr val="140A9A"/>
      </a:dk2>
      <a:lt2>
        <a:srgbClr val="00A7E1"/>
      </a:lt2>
      <a:accent1>
        <a:srgbClr val="A5ABAF"/>
      </a:accent1>
      <a:accent2>
        <a:srgbClr val="FFC82F"/>
      </a:accent2>
      <a:accent3>
        <a:srgbClr val="99CCFF"/>
      </a:accent3>
      <a:accent4>
        <a:srgbClr val="FF0000"/>
      </a:accent4>
      <a:accent5>
        <a:srgbClr val="2BB673"/>
      </a:accent5>
      <a:accent6>
        <a:srgbClr val="F37021"/>
      </a:accent6>
      <a:hlink>
        <a:srgbClr val="00A7E1"/>
      </a:hlink>
      <a:folHlink>
        <a:srgbClr val="6E757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180000" indent="-180000" algn="l" defTabSz="90000">
          <a:buSzPct val="95000"/>
          <a:buFont typeface="Arial" panose="020B0604020202020204" pitchFamily="34" charset="0"/>
          <a:buChar char="●"/>
          <a:defRPr sz="1400" dirty="0" smtClean="0">
            <a:latin typeface="+mn-lt"/>
          </a:defRPr>
        </a:defPPr>
      </a:lstStyle>
    </a:txDef>
  </a:objectDefaults>
  <a:extraClrSchemeLst/>
  <a:extLst>
    <a:ext uri="{05A4C25C-085E-4340-85A3-A5531E510DB2}">
      <thm15:themeFamily xmlns:thm15="http://schemas.microsoft.com/office/thememl/2012/main" name="Komatsu" id="{8D3C091D-10EA-4D93-B86A-A8ECBF62AEE2}" vid="{B3BEB5A2-0573-42E2-A7C8-BA6DAC0A9146}"/>
    </a:ext>
  </a:extLst>
</a:theme>
</file>

<file path=ppt/theme/theme2.xml><?xml version="1.0" encoding="utf-8"?>
<a:theme xmlns:a="http://schemas.openxmlformats.org/drawingml/2006/main" name="Office Theme">
  <a:themeElements>
    <a:clrScheme name="Komatsu02">
      <a:dk1>
        <a:srgbClr val="1B232A"/>
      </a:dk1>
      <a:lt1>
        <a:sysClr val="window" lastClr="FFFFFF"/>
      </a:lt1>
      <a:dk2>
        <a:srgbClr val="140A9A"/>
      </a:dk2>
      <a:lt2>
        <a:srgbClr val="D1D4D3"/>
      </a:lt2>
      <a:accent1>
        <a:srgbClr val="A5ABAF"/>
      </a:accent1>
      <a:accent2>
        <a:srgbClr val="FFC82F"/>
      </a:accent2>
      <a:accent3>
        <a:srgbClr val="F37021"/>
      </a:accent3>
      <a:accent4>
        <a:srgbClr val="2BB673"/>
      </a:accent4>
      <a:accent5>
        <a:srgbClr val="00A7E1"/>
      </a:accent5>
      <a:accent6>
        <a:srgbClr val="EE3124"/>
      </a:accent6>
      <a:hlink>
        <a:srgbClr val="3366CC"/>
      </a:hlink>
      <a:folHlink>
        <a:srgbClr val="6E75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usinessUnit xmlns="65022fb3-e3d6-4fa8-bce9-b1186ad3e815" xsi:nil="true"/>
    <LegalEntity xmlns="65022fb3-e3d6-4fa8-bce9-b1186ad3e815" xsi:nil="true"/>
    <Facility xmlns="65022fb3-e3d6-4fa8-bce9-b1186ad3e815" xsi:nil="true"/>
    <PolicyID xmlns="65022fb3-e3d6-4fa8-bce9-b1186ad3e815" xsi:nil="true"/>
    <Language_Dialect xmlns="65022fb3-e3d6-4fa8-bce9-b1186ad3e815">
      <Value>English</Value>
    </Language_Dialect>
    <Country xmlns="65022fb3-e3d6-4fa8-bce9-b1186ad3e815" xsi:nil="true"/>
    <Year xmlns="65022fb3-e3d6-4fa8-bce9-b1186ad3e815" xsi:nil="true"/>
    <Function xmlns="65022fb3-e3d6-4fa8-bce9-b1186ad3e815" xsi:nil="true"/>
    <SharedWithUsers xmlns="3b4d1fc7-20b0-432e-9e48-4160a536f453">
      <UserInfo>
        <DisplayName>Yoklavich, Tony</DisplayName>
        <AccountId>2652</AccountId>
        <AccountType/>
      </UserInfo>
    </SharedWithUsers>
    <TaxCatchAll xmlns="3b4d1fc7-20b0-432e-9e48-4160a536f453" xsi:nil="true"/>
    <lcf76f155ced4ddcb4097134ff3c332f xmlns="65022fb3-e3d6-4fa8-bce9-b1186ad3e815">
      <Terms xmlns="http://schemas.microsoft.com/office/infopath/2007/PartnerControls"/>
    </lcf76f155ced4ddcb4097134ff3c332f>
  </documentManagement>
</p:properti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CE1730B73DA96A4689E8844F3A5AA7C8" ma:contentTypeVersion="22" ma:contentTypeDescription="Create a new document." ma:contentTypeScope="" ma:versionID="895fd5167fa3c754c67bad8033329237">
  <xsd:schema xmlns:xsd="http://www.w3.org/2001/XMLSchema" xmlns:xs="http://www.w3.org/2001/XMLSchema" xmlns:p="http://schemas.microsoft.com/office/2006/metadata/properties" xmlns:ns2="65022fb3-e3d6-4fa8-bce9-b1186ad3e815" xmlns:ns3="3b4d1fc7-20b0-432e-9e48-4160a536f453" targetNamespace="http://schemas.microsoft.com/office/2006/metadata/properties" ma:root="true" ma:fieldsID="8ef7ca31b3608af108223e73ce66e7f9" ns2:_="" ns3:_="">
    <xsd:import namespace="65022fb3-e3d6-4fa8-bce9-b1186ad3e815"/>
    <xsd:import namespace="3b4d1fc7-20b0-432e-9e48-4160a536f453"/>
    <xsd:element name="properties">
      <xsd:complexType>
        <xsd:sequence>
          <xsd:element name="documentManagement">
            <xsd:complexType>
              <xsd:all>
                <xsd:element ref="ns2:PolicyID" minOccurs="0"/>
                <xsd:element ref="ns2:Language_Dialect" minOccurs="0"/>
                <xsd:element ref="ns2:LegalEntity" minOccurs="0"/>
                <xsd:element ref="ns2:BusinessUnit" minOccurs="0"/>
                <xsd:element ref="ns2:Country" minOccurs="0"/>
                <xsd:element ref="ns2:Facility" minOccurs="0"/>
                <xsd:element ref="ns2:Function" minOccurs="0"/>
                <xsd:element ref="ns2:Year" minOccurs="0"/>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SearchPropertie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022fb3-e3d6-4fa8-bce9-b1186ad3e815" elementFormDefault="qualified">
    <xsd:import namespace="http://schemas.microsoft.com/office/2006/documentManagement/types"/>
    <xsd:import namespace="http://schemas.microsoft.com/office/infopath/2007/PartnerControls"/>
    <xsd:element name="PolicyID" ma:index="4" nillable="true" ma:displayName="Category" ma:format="Dropdown" ma:internalName="PolicyID">
      <xsd:simpleType>
        <xsd:restriction base="dms:Choice">
          <xsd:enumeration value="Help guides"/>
        </xsd:restriction>
      </xsd:simpleType>
    </xsd:element>
    <xsd:element name="Language_Dialect" ma:index="5" nillable="true" ma:displayName="Language_Dialect" ma:default="English" ma:format="Dropdown" ma:internalName="Language_Dialect">
      <xsd:complexType>
        <xsd:complexContent>
          <xsd:extension base="dms:MultiChoice">
            <xsd:sequence>
              <xsd:element name="Value" maxOccurs="unbounded" minOccurs="0" nillable="true">
                <xsd:simpleType>
                  <xsd:restriction base="dms:Choice">
                    <xsd:enumeration value="English"/>
                    <xsd:enumeration value="Spanish"/>
                    <xsd:enumeration value="French"/>
                    <xsd:enumeration value="Polish"/>
                    <xsd:enumeration value="Portuguese"/>
                    <xsd:enumeration value="Russian"/>
                    <xsd:enumeration value="Mandarin"/>
                    <xsd:enumeration value="German"/>
                  </xsd:restriction>
                </xsd:simpleType>
              </xsd:element>
            </xsd:sequence>
          </xsd:extension>
        </xsd:complexContent>
      </xsd:complexType>
    </xsd:element>
    <xsd:element name="LegalEntity" ma:index="6" nillable="true" ma:displayName="LegalEntity" ma:list="{c0c224e3-f2b0-47e2-bb5a-c3a326cd5b25}" ma:internalName="LegalEntity" ma:readOnly="false" ma:showField="LegalEntity">
      <xsd:complexType>
        <xsd:complexContent>
          <xsd:extension base="dms:MultiChoiceLookup">
            <xsd:sequence>
              <xsd:element name="Value" type="dms:Lookup" maxOccurs="unbounded" minOccurs="0" nillable="true"/>
            </xsd:sequence>
          </xsd:extension>
        </xsd:complexContent>
      </xsd:complexType>
    </xsd:element>
    <xsd:element name="BusinessUnit" ma:index="7" nillable="true" ma:displayName="BusinessUnit" ma:list="{c0c224e3-f2b0-47e2-bb5a-c3a326cd5b25}" ma:internalName="BusinessUnit" ma:readOnly="false" ma:showField="BusinessUnit">
      <xsd:complexType>
        <xsd:complexContent>
          <xsd:extension base="dms:MultiChoiceLookup">
            <xsd:sequence>
              <xsd:element name="Value" type="dms:Lookup" maxOccurs="unbounded" minOccurs="0" nillable="true"/>
            </xsd:sequence>
          </xsd:extension>
        </xsd:complexContent>
      </xsd:complexType>
    </xsd:element>
    <xsd:element name="Country" ma:index="8" nillable="true" ma:displayName="Country" ma:list="{c0c224e3-f2b0-47e2-bb5a-c3a326cd5b25}" ma:internalName="Country" ma:readOnly="false" ma:showField="Country">
      <xsd:complexType>
        <xsd:complexContent>
          <xsd:extension base="dms:MultiChoiceLookup">
            <xsd:sequence>
              <xsd:element name="Value" type="dms:Lookup" maxOccurs="unbounded" minOccurs="0" nillable="true"/>
            </xsd:sequence>
          </xsd:extension>
        </xsd:complexContent>
      </xsd:complexType>
    </xsd:element>
    <xsd:element name="Facility" ma:index="9" nillable="true" ma:displayName="Facility" ma:list="{c0c224e3-f2b0-47e2-bb5a-c3a326cd5b25}" ma:internalName="Facility" ma:readOnly="false" ma:showField="Facility">
      <xsd:complexType>
        <xsd:complexContent>
          <xsd:extension base="dms:MultiChoiceLookup">
            <xsd:sequence>
              <xsd:element name="Value" type="dms:Lookup" maxOccurs="unbounded" minOccurs="0" nillable="true"/>
            </xsd:sequence>
          </xsd:extension>
        </xsd:complexContent>
      </xsd:complexType>
    </xsd:element>
    <xsd:element name="Function" ma:index="10" nillable="true" ma:displayName="Function" ma:list="{b980c060-32a5-49ea-bd64-0f58efed83e5}" ma:internalName="Function" ma:readOnly="false" ma:showField="Title">
      <xsd:complexType>
        <xsd:complexContent>
          <xsd:extension base="dms:MultiChoiceLookup">
            <xsd:sequence>
              <xsd:element name="Value" type="dms:Lookup" maxOccurs="unbounded" minOccurs="0" nillable="true"/>
            </xsd:sequence>
          </xsd:extension>
        </xsd:complexContent>
      </xsd:complexType>
    </xsd:element>
    <xsd:element name="Year" ma:index="11" nillable="true" ma:displayName="Year" ma:list="{b5abfe55-34d0-41de-bb8e-5b74927a5d55}" ma:internalName="Year" ma:readOnly="false" ma:showField="Title">
      <xsd:complexType>
        <xsd:complexContent>
          <xsd:extension base="dms:MultiChoiceLookup">
            <xsd:sequence>
              <xsd:element name="Value" type="dms:Lookup" maxOccurs="unbounded" minOccurs="0" nillable="true"/>
            </xsd:sequence>
          </xsd:extension>
        </xsd:complexContent>
      </xsd:complex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36aa57-3f10-401e-86cd-e994c70b671c"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MediaServiceOCR" ma:index="2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4d1fc7-20b0-432e-9e48-4160a536f45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72d9ebb-bf17-4b40-b06e-cd1a74cc6848}" ma:internalName="TaxCatchAll" ma:showField="CatchAllData" ma:web="3b4d1fc7-20b0-432e-9e48-4160a536f4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2"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41A971-22C8-4F70-B9B3-3D460AEEA12C}">
  <ds:schemaRefs>
    <ds:schemaRef ds:uri="http://schemas.microsoft.com/sharepoint/v3/contenttype/forms"/>
  </ds:schemaRefs>
</ds:datastoreItem>
</file>

<file path=customXml/itemProps2.xml><?xml version="1.0" encoding="utf-8"?>
<ds:datastoreItem xmlns:ds="http://schemas.openxmlformats.org/officeDocument/2006/customXml" ds:itemID="{EB419D6A-0879-4CAB-866C-1D910720FC71}">
  <ds:schemaRefs>
    <ds:schemaRef ds:uri="http://schemas.microsoft.com/office/2006/documentManagement/types"/>
    <ds:schemaRef ds:uri="http://purl.org/dc/dcmitype/"/>
    <ds:schemaRef ds:uri="65022fb3-e3d6-4fa8-bce9-b1186ad3e815"/>
    <ds:schemaRef ds:uri="http://purl.org/dc/terms/"/>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3b4d1fc7-20b0-432e-9e48-4160a536f453"/>
    <ds:schemaRef ds:uri="http://www.w3.org/XML/1998/namespace"/>
  </ds:schemaRefs>
</ds:datastoreItem>
</file>

<file path=customXml/itemProps3.xml><?xml version="1.0" encoding="utf-8"?>
<ds:datastoreItem xmlns:ds="http://schemas.openxmlformats.org/officeDocument/2006/customXml" ds:itemID="{4B0E3FE9-7C0F-49F7-96F0-BAA659D9E09D}">
  <ds:schemaRefs>
    <ds:schemaRef ds:uri="http://schemas.microsoft.com/office/2006/metadata/longProperties"/>
  </ds:schemaRefs>
</ds:datastoreItem>
</file>

<file path=customXml/itemProps4.xml><?xml version="1.0" encoding="utf-8"?>
<ds:datastoreItem xmlns:ds="http://schemas.openxmlformats.org/officeDocument/2006/customXml" ds:itemID="{FDA8A88C-5A96-4D20-A6DF-035200ECC8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022fb3-e3d6-4fa8-bce9-b1186ad3e815"/>
    <ds:schemaRef ds:uri="3b4d1fc7-20b0-432e-9e48-4160a536f4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b541822-fec0-4597-a230-9f84f5584c5d}" enabled="1" method="Privileged" siteId="{58be8688-6625-4e52-80d8-c17f3a9ae08a}" removed="0"/>
</clbl:labelList>
</file>

<file path=docProps/app.xml><?xml version="1.0" encoding="utf-8"?>
<Properties xmlns="http://schemas.openxmlformats.org/officeDocument/2006/extended-properties" xmlns:vt="http://schemas.openxmlformats.org/officeDocument/2006/docPropsVTypes">
  <Template/>
  <TotalTime>5588</TotalTime>
  <Words>1118</Words>
  <Application>Microsoft Office PowerPoint</Application>
  <PresentationFormat>Apresentação na tela (16:9)</PresentationFormat>
  <Paragraphs>85</Paragraphs>
  <Slides>6</Slides>
  <Notes>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6</vt:i4>
      </vt:variant>
    </vt:vector>
  </HeadingPairs>
  <TitlesOfParts>
    <vt:vector size="11" baseType="lpstr">
      <vt:lpstr>Arial</vt:lpstr>
      <vt:lpstr>Calibri</vt:lpstr>
      <vt:lpstr>Courier New</vt:lpstr>
      <vt:lpstr>Wingdings</vt:lpstr>
      <vt:lpstr>Komatsu</vt:lpstr>
      <vt:lpstr>Bom Futuro Komatsu Fleet Support Program </vt:lpstr>
      <vt:lpstr>Apresentação do PowerPoint</vt:lpstr>
      <vt:lpstr>Apresentação do PowerPoint</vt:lpstr>
      <vt:lpstr>Apresentação do PowerPoint</vt:lpstr>
      <vt:lpstr>Apresentação do PowerPoint</vt:lpstr>
      <vt:lpstr>Apresentação do PowerPoint</vt:lpstr>
    </vt:vector>
  </TitlesOfParts>
  <Company>Joy Global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Kellie Foster</dc:creator>
  <cp:lastModifiedBy>Cid Quirino</cp:lastModifiedBy>
  <cp:revision>436</cp:revision>
  <cp:lastPrinted>2020-01-03T20:16:28Z</cp:lastPrinted>
  <dcterms:created xsi:type="dcterms:W3CDTF">2012-03-28T18:23:49Z</dcterms:created>
  <dcterms:modified xsi:type="dcterms:W3CDTF">2025-12-23T14:53:18Z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4W53MEEM26MD-362-250</vt:lpwstr>
  </property>
  <property fmtid="{D5CDD505-2E9C-101B-9397-08002B2CF9AE}" pid="3" name="_dlc_DocIdItemGuid">
    <vt:lpwstr>8b9488da-3354-4655-a859-42eac534f7ba</vt:lpwstr>
  </property>
  <property fmtid="{D5CDD505-2E9C-101B-9397-08002B2CF9AE}" pid="4" name="_dlc_DocIdUrl">
    <vt:lpwstr>http://jgn.jgi.joyglobalinc.com/corporatefunctions/mktg_comm/templates/_layouts/DocIdRedir.aspx?ID=4W53MEEM26MD-362-250, 4W53MEEM26MD-362-250</vt:lpwstr>
  </property>
  <property fmtid="{D5CDD505-2E9C-101B-9397-08002B2CF9AE}" pid="5" name="JGN_x0020_Corporate_x0020_Function">
    <vt:lpwstr>191;#Marketing Communications|cf8a6c8e-34b1-4c62-ad5a-e4c3fd85fc15</vt:lpwstr>
  </property>
  <property fmtid="{D5CDD505-2E9C-101B-9397-08002B2CF9AE}" pid="6" name="Item_x0020_Language">
    <vt:lpwstr>124;#English|92d7a074-cc84-4741-8640-76236a72a556</vt:lpwstr>
  </property>
  <property fmtid="{D5CDD505-2E9C-101B-9397-08002B2CF9AE}" pid="7" name="JGN Corporate Function">
    <vt:lpwstr>191;#Marketing Communications|cf8a6c8e-34b1-4c62-ad5a-e4c3fd85fc15</vt:lpwstr>
  </property>
  <property fmtid="{D5CDD505-2E9C-101B-9397-08002B2CF9AE}" pid="8" name="display_urn:schemas-microsoft-com:office:office#Document_x0020_Owner">
    <vt:lpwstr>Foster, Kellie</vt:lpwstr>
  </property>
  <property fmtid="{D5CDD505-2E9C-101B-9397-08002B2CF9AE}" pid="9" name="Item Language">
    <vt:lpwstr>124;#English|92d7a074-cc84-4741-8640-76236a72a556</vt:lpwstr>
  </property>
  <property fmtid="{D5CDD505-2E9C-101B-9397-08002B2CF9AE}" pid="10" name="Order">
    <vt:r8>14800</vt:r8>
  </property>
  <property fmtid="{D5CDD505-2E9C-101B-9397-08002B2CF9AE}" pid="11" name="ContentTypeId">
    <vt:lpwstr>0x010100CE1730B73DA96A4689E8844F3A5AA7C8</vt:lpwstr>
  </property>
  <property fmtid="{D5CDD505-2E9C-101B-9397-08002B2CF9AE}" pid="12" name="_ExtendedDescription">
    <vt:lpwstr/>
  </property>
  <property fmtid="{D5CDD505-2E9C-101B-9397-08002B2CF9AE}" pid="13" name="MediaServiceImageTags">
    <vt:lpwstr/>
  </property>
</Properties>
</file>